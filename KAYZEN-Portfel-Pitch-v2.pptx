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6070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5800" b="1" i="0">
                <a:solidFill>
                  <a:srgbClr val="FFFFFF"/>
                </a:solidFill>
                <a:latin typeface="Calibri"/>
              </a:rPr>
              <a:t>FABRIQ</a:t>
            </a:r>
          </a:p>
          <a:p>
            <a:pPr algn="l">
              <a:spcAft>
                <a:spcPts val="1600"/>
              </a:spcAft>
            </a:pPr>
            <a:r>
              <a:rPr sz="2200" b="0" i="0">
                <a:solidFill>
                  <a:srgbClr val="FFB300"/>
                </a:solidFill>
                <a:latin typeface="Calibri"/>
              </a:rPr>
              <a:t>İstehsal-texnologiya şirkəti — bir nüvə, ardıcıl çıxan məhsul portfeli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Brauzer CAD + qiymət mühərriki + ödəniş nüvəsi üzərində 4 məhsul · tək komanda · tək şirkət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9A9EA4"/>
                </a:solidFill>
                <a:latin typeface="Calibri"/>
              </a:rPr>
              <a:t>İnvestor təqdimatı · FABRIQ · support@kayzen.az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VİZYON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Tək məhsul deyil — istehsal-texnologiya mühərriki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İstehsal/CAD sahəsi parçalanıb: qiymət ayrı, CAD ayrı, sifariş ayrı, DFM ayrı alətlərdədir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Biz bir texnoloji nüvə qururuq (Three.js CAD + qiymət mühərriki + Stripe + analitika)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 nüvənin üstündə ardıcıl olaraq 4 məhsul çıxarırıq — hər biri ayrı sayt/brend, bir az fərqli bazar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Hamısı bir şirkətdə cəmlənir, eyni komanda ilə — komanda heç vaxt boş qalmır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İnvestor bir məhsula yox, çoxlu atışlı istehsal-texnologiya platformasına investisiya edir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Hər istehsal addımı üçün ayrıca, baha, kobud alət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Sifarişçi: hissə qiyməti almaq günlər çəkir, kiçik sifariş üçün self-serve həll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Emalatxana: qiymət/sifarişi hələ də email + Excel ilə idarə edir — proqram yoxdur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Mühəndis: sürətli istehsal-uyğunluq (DFM) yoxlaması üçün ucuz alət tapmır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E-commerce satıcı: custom məhsul üçün 3D konfiqurator + anında qiymət qoya bilmir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Hər biri ayrıca böyük bazardır — və hamısı eyni texnoloji nüvəni tələb edir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STRATEGİYA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nüvə → ardıcıl GTM → bir komanda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1) Paylaşılan nüvəni bir dəfə qur (CAD, qiymət, ödəniş, fayl, analitika) — ~70% hər məhsulda təkrar işlənir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2) Hər məhsul bu nüvənin üstündə fərqli bazara «paketlənmiş» go-to-market-dir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3) Ardıcıl çıxar: bir məhsul launch olub stabilləşəndə komanda növbətiyə axır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4) Hər məhsul növbətindən əvvəl validasiya olunur — risk pillə-pillə azalır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FAZA 1: 2 məhsul, 12 nəfər, ~$1M → breakeven. FAZA 2: digər 2 məhsul ÖZ GƏLİRİ ilə (yeni pul yox)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PAYLAŞILAN NÜVƏ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 dəfə qurulan, dəfələrlə işlədilən texnologiya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Brauzer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Three.js + CSG
geometriya/mesh emalı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Qiymət mühərriki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material+vaxt+marja
no-code qayda builder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Ödəniş + Connect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Stripe abunə + payout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Fayl pipeline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STL/STEP/OBJ
yükləmə, render, saxlama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4114800"/>
            <a:ext cx="338328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Auth + Analitika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istifadə, konversiya,
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4114800"/>
            <a:ext cx="3291840" cy="173736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hər yeni məhsulda
təkrar işlənən kod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FEEDRATE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İstehsal marketplace — qiymətdən çatdırılmaya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Anında qiymət → sifariş → supplier istehsalı → keyfiyyət → çatdırılma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Gəlir: istehsal marjası ~22% + abunə + dizayn komissiya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Orta bazar fokusu (Xometry/Protolabs yüksək bazara baxır) — disruption from below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Rolu: flaqman + nağd axın + supplier şəbəkəsi (digər məhsulları qidalandırır)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Launch: Ay 1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FEEDRATE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QUOTEFLOW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Embed quote-widget SaaS — emalatxanalar üçün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Emalatxana abunə olur, dizaynı öz saytına uyğunlaşdırır, öz qiymət məntiqini yazır, embed götürür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Analitika: kim istifadə etdi, neçə quote, neçəsi sifarişə çevrildi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Rəqib: DigiFabster/3YOURMIND — amma köhnə UX, CAD redaktoru yoxdur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$140/ay abunə · saf B2B SaaS, fiziki icra yox → yüksək marja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Launch: Ay 5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QUOTEFLOW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FORMCHECK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DFM analiz SaaS — istehsal-uyğunluq yoxlaması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CAD yüklə → divar qalınlığı, tolerans, undercut, qiyməti artıran amillər + AI tövsiyə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Boşluq: SMB üçün yüngül, self-serve DFM aləti demək olar yoxdur (aPriori enterprise/bahalı)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freemium → $39/ay · brauzer mesh analizi (nüvə təkrar)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Launch: Ay 24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FORMCHECK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MƏHSUL · CONFIGFLOW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E-commerce 3D konfiqurator / CPQ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Custom məhsul satıcıları (mebel, lövhə, bracket, korpus) öz mağazasına 3D konfiqurator + anında qiymət qoyur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Shopify/Woo app store = hazır paylama kanalı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Gəlir: $89/ay abunə + tranzaksiya · Three.js + qiymət nüvəsi təkrar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640080"/>
            <a:ext cx="2743200" cy="100584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Launch: Ay 30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CONFIGFLOW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AXAN 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Ardıcıl launch — komanda boş qalmır, işdən çıxarma yox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613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342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8071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529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1258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36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8987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67160" y="1719072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0" i="0">
                <a:solidFill>
                  <a:srgbClr val="9A9EA4"/>
                </a:solidFill>
                <a:latin typeface="Calibri"/>
              </a:rPr>
              <a:t>48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121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FEEDRATE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9418320" cy="384048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2779775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C9CFF"/>
                </a:solidFill>
                <a:latin typeface="Calibri"/>
              </a:rPr>
              <a:t>QUOTEFLOW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69870" y="2761487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62300" y="2761487"/>
            <a:ext cx="8633460" cy="384048"/>
          </a:xfrm>
          <a:prstGeom prst="rect">
            <a:avLst/>
          </a:prstGeom>
          <a:solidFill>
            <a:srgbClr val="5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3814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7C98A"/>
                </a:solidFill>
                <a:latin typeface="Calibri"/>
              </a:rPr>
              <a:t>FORMCHECK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7955" y="3419856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90385" y="3419856"/>
            <a:ext cx="4905375" cy="384048"/>
          </a:xfrm>
          <a:prstGeom prst="rect">
            <a:avLst/>
          </a:prstGeom>
          <a:solidFill>
            <a:srgbClr val="57C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096511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B97DF0"/>
                </a:solidFill>
                <a:latin typeface="Calibri"/>
              </a:rPr>
              <a:t>CONFIGFLOW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75245" y="4078224"/>
            <a:ext cx="392430" cy="384048"/>
          </a:xfrm>
          <a:prstGeom prst="rect">
            <a:avLst/>
          </a:prstGeom>
          <a:solidFill>
            <a:srgbClr val="171A1E"/>
          </a:solidFill>
          <a:ln w="9525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0" i="0">
                <a:solidFill>
                  <a:srgbClr val="FFB300"/>
                </a:solidFill>
                <a:latin typeface="Calibri"/>
              </a:rPr>
              <a:t>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7675" y="4078224"/>
            <a:ext cx="3728085" cy="384048"/>
          </a:xfrm>
          <a:prstGeom prst="rect">
            <a:avLst/>
          </a:prstGeom>
          <a:solidFill>
            <a:srgbClr val="B97D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sz="1000" b="1" i="0">
                <a:solidFill>
                  <a:srgbClr val="0D0E10"/>
                </a:solidFill>
                <a:latin typeface="Calibri"/>
              </a:rPr>
              <a:t>canlı · launch Ay30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873752"/>
            <a:ext cx="111556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FAZA 1: Ay 1 FEEDRATE + Ay 5 QUOTEFLOW (2 məhsul, ~$1M seed). FAZA 2 (ÖZ GƏLİRİ ilə): Ay 24 FORMCHECK · Ay 30 CONFIGFLOW</a:t>
            </a:r>
          </a:p>
          <a:p>
            <a:pPr algn="l">
              <a:spcAft>
                <a:spcPts val="600"/>
              </a:spcAft>
            </a:pPr>
            <a:r>
              <a:rPr sz="1400" b="0" i="1">
                <a:solidFill>
                  <a:srgbClr val="57C98A"/>
                </a:solidFill>
                <a:latin typeface="Calibri"/>
              </a:rPr>
              <a:t>Hər keçiddə nüvə komanda saxlanılır, yalnız GTM/məhsul qatı dəyişir — boş qalma və ya işdən çıxarma yoxdur.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KAPİTAL SƏMƏRƏLİLİYİ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məhsul — bir komandanın qiymətinə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21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ayda 4 məhsul üçün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94560"/>
            <a:ext cx="338328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6B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6B6B"/>
                </a:solidFill>
                <a:latin typeface="Calibri"/>
              </a:rPr>
              <a:t>~72 nəfər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 ayrı şirkət olsaydı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94560"/>
            <a:ext cx="329184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~70%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təkrar işlənən nüvə kod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97680"/>
            <a:ext cx="108813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Paylaşılan back-office: bir CFO, bir marketinq mühərriki, bir infra, bir analitika</a:t>
            </a:r>
          </a:p>
          <a:p>
            <a:pPr algn="l">
              <a:spcAft>
                <a:spcPts val="900"/>
              </a:spcAft>
            </a:pPr>
            <a:r>
              <a:rPr sz="1700" b="0" i="0">
                <a:solidFill>
                  <a:srgbClr val="ECEAE5"/>
                </a:solidFill>
                <a:latin typeface="Calibri"/>
              </a:rPr>
              <a:t>•  Hər yeni məhsulun marjinal xərci aşağı — nüvə artıq var</a:t>
            </a:r>
          </a:p>
          <a:p>
            <a:pPr algn="l">
              <a:spcAft>
                <a:spcPts val="900"/>
              </a:spcAft>
            </a:pPr>
            <a:r>
              <a:rPr sz="1700" b="1" i="0">
                <a:solidFill>
                  <a:srgbClr val="57C98A"/>
                </a:solidFill>
                <a:latin typeface="Calibri"/>
              </a:rPr>
              <a:t>FEEDRATE nağd axını digər məhsulların build-ini maliyyələşdirir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«BU FOKUS İTKİSİ DEYİL?»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Xeyr — bir nüvə, ardıcıl icra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Bu, 4 fərqli biznes deyil — bir texnoloji platformanın 4 go-to-market təbəqəsidir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anda 4 şey qurmuruq: ardıcıl çıxarırıq, biri stabilləşəndə digərinə keçirik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növbətiyə START vermədən əvvəl bazarda validasiya olunur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Eyni müştəri seqmenti, eyni satış kanalları, eyni brend ekosistemi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FFB300"/>
                </a:solidFill>
                <a:latin typeface="Calibri"/>
              </a:rPr>
              <a:t>Risk azalır (çoxlu atış), fokus qalır (bir nüvə, bir komanda, bir vizyon)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SİNERGİYA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Məhsullar bir-birini qidalandırır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QUOTEFLOW emalatxanaları → FEEDRATE marketplace üçün hazır supplier şəbəkəsi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FORMCHECK istifadəçiləri → FEEDRATE/QUOTEFLOW-da qiymət alıb sifarişə çevrilir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CONFIGFLOW e-commerce satıcıları → FEEDRATE-də istehsal sifariş edir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Tək hesab, tək ödəniş, tək data — cross-sell və yüksək LTV</a:t>
            </a:r>
          </a:p>
          <a:p>
            <a:pPr algn="l">
              <a:spcAft>
                <a:spcPts val="900"/>
              </a:spcAft>
            </a:pPr>
            <a:r>
              <a:rPr sz="1800" b="1" i="0">
                <a:solidFill>
                  <a:srgbClr val="57C98A"/>
                </a:solidFill>
                <a:latin typeface="Calibri"/>
              </a:rPr>
              <a:t>Hər yeni məhsul bütün portfelin dəyərini artırır (şəbəkə effekti)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BAZAR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4 bitişik bazar — onlarla milyard $ TAM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İstehsal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on-demand manufacturing
(FEEDRATE)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C9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C9CFF"/>
                </a:solidFill>
                <a:latin typeface="Calibri"/>
              </a:rPr>
              <a:t>Quoting SaaS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emalatxana proqramı
(QUOTEFLOW)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2286000"/>
            <a:ext cx="265176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DFM / CAD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mühəndis alətləri
(FORMCHECK)</a:t>
            </a:r>
          </a:p>
        </p:txBody>
      </p:sp>
      <p:sp>
        <p:nvSpPr>
          <p:cNvPr id="9" name="Rectangle 8"/>
          <p:cNvSpPr/>
          <p:nvPr/>
        </p:nvSpPr>
        <p:spPr>
          <a:xfrm>
            <a:off x="9326880" y="2286000"/>
            <a:ext cx="2286000" cy="1828800"/>
          </a:xfrm>
          <a:prstGeom prst="rect">
            <a:avLst/>
          </a:prstGeom>
          <a:solidFill>
            <a:srgbClr val="171A1E"/>
          </a:solidFill>
          <a:ln w="12700">
            <a:solidFill>
              <a:srgbClr val="B97D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B97DF0"/>
                </a:solidFill>
                <a:latin typeface="Calibri"/>
              </a:rPr>
              <a:t>E-com CPQ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konfiqurator
(CONFIGFLOW)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480560"/>
            <a:ext cx="10789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Hamısı böyüyən rəqəmsal istehsal trendinin içində · bitişik = eyni alıcı, eyni kanal, çarpaz satış.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MALİYYƏ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Birləşmiş portfel — 18 / 36 / 48 ay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$57K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aylıq gəlir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01168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$368K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aylıq gəlir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01168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$1,198K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aylıq gəlir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$687K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18 ay — ARR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520440"/>
            <a:ext cx="338328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$4.42M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36 ay — ARR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46720" y="3520440"/>
            <a:ext cx="3291840" cy="137160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—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12064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ECEAE5"/>
                </a:solidFill>
                <a:latin typeface="Calibri"/>
              </a:rPr>
              <a:t>İl gəlir: İl1 $154K · İl2 $768K · İl3 $2.68M · İl4 $8.87M   |   Breakeven ≈ Ay 21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9A9EA4"/>
                </a:solidFill>
                <a:latin typeface="Calibri"/>
              </a:rPr>
              <a:t>İl 4 NET $5.31M · 4 məhsulun hamısı canlı · komanda 21 nəfər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İNVESTİSİYA TƏLƏBİ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Tələb: $1.00M seed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$1.00M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Bütün portfel üçün seed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434840" y="2103120"/>
            <a:ext cx="338328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FFB3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FFB300"/>
                </a:solidFill>
                <a:latin typeface="Calibri"/>
              </a:rPr>
              <a:t>~756K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Real funding need (dib)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2103120"/>
            <a:ext cx="3291840" cy="1554480"/>
          </a:xfrm>
          <a:prstGeom prst="rect">
            <a:avLst/>
          </a:prstGeom>
          <a:solidFill>
            <a:srgbClr val="171A1E"/>
          </a:solidFill>
          <a:ln w="12700">
            <a:solidFill>
              <a:srgbClr val="57C9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2600" b="1" i="0">
                <a:solidFill>
                  <a:srgbClr val="57C98A"/>
                </a:solidFill>
                <a:latin typeface="Calibri"/>
              </a:rPr>
              <a:t>$14.37M</a:t>
            </a:r>
          </a:p>
          <a:p>
            <a:pPr algn="ctr">
              <a:spcAft>
                <a:spcPts val="0"/>
              </a:spcAft>
            </a:pPr>
            <a:r>
              <a:rPr sz="1150" b="0" i="0">
                <a:solidFill>
                  <a:srgbClr val="9A9EA4"/>
                </a:solidFill>
                <a:latin typeface="Calibri"/>
              </a:rPr>
              <a:t>48 ay ARR hədəfi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931920"/>
            <a:ext cx="108813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İstifadə: komanda ~60% · məhsul/infra ~12% · marketinq (4 GTM) ~20% · inzibati ~8%</a:t>
            </a:r>
          </a:p>
          <a:p>
            <a:pPr algn="l">
              <a:spcAft>
                <a:spcPts val="900"/>
              </a:spcAft>
            </a:pPr>
            <a:r>
              <a:rPr sz="1600" b="0" i="0">
                <a:solidFill>
                  <a:srgbClr val="ECEAE5"/>
                </a:solidFill>
                <a:latin typeface="Calibri"/>
              </a:rPr>
              <a:t>•  2 məhsul özünü sübut edir (breakeven ~ay 20) → şirkət öz gəliri ilə məhsul 3-4-ü maliyyələşdirir</a:t>
            </a:r>
          </a:p>
          <a:p>
            <a:pPr algn="l">
              <a:spcAft>
                <a:spcPts val="900"/>
              </a:spcAft>
            </a:pPr>
            <a:r>
              <a:rPr sz="1600" b="1" i="0">
                <a:solidFill>
                  <a:srgbClr val="57C98A"/>
                </a:solidFill>
                <a:latin typeface="Calibri"/>
              </a:rPr>
              <a:t>Plan: 4 məhsul, $14.37M birləşmiş ARR, İl 4 mənfəətli, ~28 nəfərlə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57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FFB300"/>
                </a:solidFill>
                <a:latin typeface="Calibri"/>
              </a:rPr>
              <a:t>KOMANDA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Senior nüvə, məhsuldan-məhsula axır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0881360" cy="4480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Nüvə (Ay 1): CEO + CTO/Baş arxitekt + Senior CAD + Senior Frontend — paylaşılan platforma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Hər məhsul üçün 1 product/FS lead + 1 dev + 1 growth əlavə olunur (nüvəyə söykənir)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ECEAE5"/>
                </a:solidFill>
                <a:latin typeface="Calibri"/>
              </a:rPr>
              <a:t>•  Paylaşılan: CFO, marketinq lead, DevOps, QA, dəstək, sales — bir dəfə, hamı üçün</a:t>
            </a:r>
          </a:p>
          <a:p>
            <a:pPr algn="l">
              <a:spcAft>
                <a:spcPts val="900"/>
              </a:spcAft>
            </a:pPr>
            <a:r>
              <a:rPr sz="1800" b="0" i="0">
                <a:solidFill>
                  <a:srgbClr val="9A9EA4"/>
                </a:solidFill>
                <a:latin typeface="Calibri"/>
              </a:rPr>
              <a:t>•  48 ayın sonunda 21 nəfər · remote-first · Azərbaycan bazlı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0E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Bir komanda. Bir nüvə. Mərhələli böyümə.</a:t>
            </a:r>
          </a:p>
          <a:p>
            <a:pPr algn="l">
              <a:spcAft>
                <a:spcPts val="2200"/>
              </a:spcAft>
            </a:pPr>
            <a:r>
              <a:rPr sz="2000" b="0" i="0">
                <a:solidFill>
                  <a:srgbClr val="FFB300"/>
                </a:solidFill>
                <a:latin typeface="Calibri"/>
              </a:rPr>
              <a:t>KAYZEN — istehsal-texnologiyasını bir-bir fəth edən şirkət.</a:t>
            </a:r>
          </a:p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9A9EA4"/>
                </a:solidFill>
                <a:latin typeface="Calibri"/>
              </a:rPr>
              <a:t>FABRIQ · support@kayzen.az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