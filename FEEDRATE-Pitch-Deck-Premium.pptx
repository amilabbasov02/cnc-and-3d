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FEEDRATE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CNC frezeleme &amp; 3D-çap üçün anında qiymət → sifariş → istehsal → çatdırılma platforması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9EA4"/>
                </a:solidFill>
                <a:latin typeface="Calibri"/>
              </a:rPr>
              <a:t>Self-serve · brauzer CAD · supplier şəbəkəsi · marketplace · orta bazardan yuxarıya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EA4"/>
                </a:solidFill>
                <a:latin typeface="Calibri"/>
              </a:rPr>
              <a:t>İnvestor təqdimatı  ·  Kayzen  ·  support@kayzen.az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Hissə istehsal etdirmək yavaş, bahalı və qırıqdır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CNC/3D sifarişdə qiymət almaq günlər çəkir — email, gözləmə, geriyə-irəli yazışma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Mövcud iri platformalar yalnız böyük sifarişlərə baxır — minimum həcm, sales-led satış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Kiçik biznes, mühəndis, startap, maker — sürətli, sərfəli, self-serve həll tapmır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Qiymət ayrı, CAD ayrı, sifariş ayrı, emalatxana ayrı — vahid axın yoxdur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Nəticə: orta bazar xidmətsiz qalır — bizim fürsətimiz məhz buradadır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HƏLL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Fayldan hazır hissəyə — bir platformada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Anında qiymət: model yüklə / kitabxanadan seç / brauzer CAD-da qur → saniyələrlə qiymət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Tək kliklə sifariş + ödəniş — minimum həcm yoxdur, yazışma yoxdur, gözləmə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Supplier şəbəkəsi: sifariş ən uyğun emalatxanaya yönlənir, hazırlanır, çatdırılır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 istehsalı etmirik — qiymət, ödəniş, marşrutlaşdırma, keyfiyyəti idarə edirik (yüngül model)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Üstəlik: dizayn marketplace — istifadəçilər öz modellərini satır, biz komissiya alırıq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NECƏ İŞLƏYİR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Qiymətdən çatdırılmaya — 7 addım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1 · Model (yüklə / seç / CAD-da qur)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FFB300"/>
                </a:solidFill>
                <a:latin typeface="Calibri"/>
              </a:rPr>
              <a:t>2 · Anında qiymət</a:t>
            </a:r>
          </a:p>
          <a:p>
            <a:pPr algn="l">
              <a:spcAft>
                <a:spcPts val="1100"/>
              </a:spcAft>
            </a:pPr>
            <a:r>
              <a:rPr sz="1900" b="1" i="0">
                <a:solidFill>
                  <a:srgbClr val="ECEAE5"/>
                </a:solidFill>
                <a:latin typeface="Calibri"/>
              </a:rPr>
              <a:t>3 · Sifariş + ödəniş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4 · Supplier-ə marşrutlaşdırma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5 · İstehsal (CNC/3D-print)</a:t>
            </a:r>
          </a:p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ECEAE5"/>
                </a:solidFill>
                <a:latin typeface="Calibri"/>
              </a:rPr>
              <a:t>6 · Keyfiyyət + çatdırılma</a:t>
            </a:r>
          </a:p>
          <a:p>
            <a:pPr algn="l">
              <a:spcAft>
                <a:spcPts val="1100"/>
              </a:spcAft>
            </a:pPr>
            <a:r>
              <a:rPr sz="1900" b="1" i="0">
                <a:solidFill>
                  <a:srgbClr val="FFB300"/>
                </a:solidFill>
                <a:latin typeface="Calibri"/>
              </a:rPr>
              <a:t>7 · Supplier payout · biz marja saxlayırıq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46C9C1"/>
                </a:solidFill>
                <a:latin typeface="Calibri"/>
              </a:rPr>
              <a:t>İstehsalı biz etmirik — qiymət, ödəniş, marşrutlaşdırma və keyfiyyəti biz idarə edirik.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Üç modul, bir axın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3D model kitabxanası — hazır parametrik modellər, ölçü qoy → qiymət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Brauzer CAD redaktoru (Three.js + CSG) — quraşdırma yox, anlıq qiymət, STL/OBJ/STEP export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İstehsal marketplace — sifariş → supplier → keyfiyyət → çatdırılma + payout (Stripe Connect)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Dizayn marketplace — listing, alış, komissiya, payout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Limit/anti-abuse: anonim 1 qiymət → pulsuz hesab 5/ay → ödənişli paketlər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Böyüyən on-demand istehsal bazarı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TAM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Qlobal rəqəmsal istehsal —
onlarla milyard $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SAM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Self-serve instant-quote +
onlayn CAD istifadəçiləri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SOM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 ildə aylıq 90K+ ziyarətçi,
1600+ sifariş/ay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Trendlər: distributed manufacturing, 3D-print bumu, brauzer/no-code alətlər, qısa tədarük zənciri.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B300"/>
                </a:solidFill>
                <a:latin typeface="Calibri"/>
              </a:rPr>
              <a:t>Giriş nöqtəsi: anonim 1 pulsuz qiymət = viral, sürtünməsiz cəlb.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BİZNES MODELİ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 gəlir mənbəyi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~22%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İSTEHSAL MARJASI (əsas)
hər sifariş GMV-dən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$9–$99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ABUNƏ (SaaS)
CAD + qiymət alətləri / ay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21031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~8%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DİZAYN KOMİSSİYA
marketplace satışından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İstehsal: ödənişi biz toplayırıq, supplier-ə payout edirik, marjanı saxlayırıq.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7C98A"/>
                </a:solidFill>
                <a:latin typeface="Calibri"/>
              </a:rPr>
              <a:t>Üç axın = həcmlə böyüyən marja + təkrar MRR + iki tərəfli marketplace effekti.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SUPPLIER ŞƏBƏKƏSİ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İstehsalsız, lakin tam nəzarətli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Yoxlanmış CNC/3D-print emalatxanaları şəbəkəsi — biz onlara sifariş gətiririk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Marşrutlaşdırma: hər sifariş qiymət/məkan/imkana görə ən uyğun supplier-ə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Keyfiyyət standartı, izləmə və reytinq — zəif supplier sistemdən çıxır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Bizdə əsas vəsait (avadanlıq) yoxdur → yüngül, sürətli miqyaslana bilən model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Çox supplier = aşağı qiymət, sürətli çatdırılma, regional əhatə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QİYMƏT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Freemium → ödənişli paketlər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Free $0 — 5 hesablama / 5 yükləmə, məhdud CAD, sifariş icazəli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Starter $9 — 50 hesablama / 25 yükləmə, tam CAD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Pro $29 — limitsiz hesablama / 100 yükləmə, brendli PDF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Business $99 — limitsiz, API/komanda, prioritet supplier &amp; dəstək (yuxarı bazar)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Blended ARPU ~$26/ay · istehsal sifarişləri paketdən asılı deyil — hamı sifariş verə bilər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RƏQABƏT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Rəqiblər kimdir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Xometry / Protolabs — instant-quote var, AMMA enterprise/yüksək bazar, sales-led, minimum həcm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Protolabs öz zavodları ilə premium qiymət — kiçik/orta sifarişçi üçün baha və əlçatmaz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Thangs / Thingiverse — model var, qiymət/sifariş yox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Onshape / Tinkercad — CAD var, qiymət + istehsal + marketplace yox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Heç biri orta bazara self-serve, hamısını-bir-yerdə həll vermir — boşluq buradadır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MÖVQELƏŞMƏ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Niyə orta bazar? — aşağıdan yuxarıya disrupsiya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Rəqiblər yüksək/enterprise bazara fokuslanır — iri müştəri, böyük marja, sales komandası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Orta bazar (kiçik biznes, mühəndis, startap, hardware maker, tələbə) onlar üçün «kiçik»dir — xidmətsiz qalır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Bu seqment böyükdür, sürətli böyüyür və self-serve istəyir — bizim giriş nöqtəmiz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Strategiya: orta bazarı self-serve ilə tut → həcm və data qazan → Business/API ilə yuxarı bazara çıx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Klassik «disruption from below»: əvvəl çatışmayan seqment, sonra premium müştəriyə doğru hərəkət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Aşağı sürtünmə + minimum həcm yoxdur = rəqiblərin əlçatmaz olduğu kütləvi tələbi açırıq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FƏRQLƏNMƏ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Bizdə var — rəqiblərdə yox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651760"/>
                <a:gridCol w="228600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Funksiya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FEEDRATE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Xometry / Protolabs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0E10"/>
                          </a:solidFill>
                          <a:latin typeface="Calibri"/>
                        </a:rPr>
                        <a:t>Onshape / Thingiverse</a:t>
                      </a:r>
                    </a:p>
                  </a:txBody>
                  <a:tcPr marT="25400" marB="25400" anchor="ctr">
                    <a:solidFill>
                      <a:srgbClr val="FFB300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Self-serve anında qiymət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Qismən (iri/B2B)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Brauzer CAD (quraşdırmasız)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Qismən (yalnız CAD)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Sifariş → supplier istehsal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Minimum həcm YOXDUR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Dizayn marketplace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Qismən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Hamısı bir platformada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F6B6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25400" marB="25400" anchor="ctr">
                    <a:solidFill>
                      <a:srgbClr val="20242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Orta bazara fokus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57C9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✗ (enterprise)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CEAE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anchor="ctr">
                    <a:solidFill>
                      <a:srgbClr val="171A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GET-TO-MARKET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Necə böyüyəcəyik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SEO + kontent (CNC/3D-print qiymət açar sözləri) — anonim 1 pulsuz qiymət viral giriş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Performans reklam + maker icmaları: Reddit, Discord, YouTube, mühəndis forumları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Marketplace satıcıları öz auditoriyasını gətirir — iki tərəfli böyümə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Supplier tərəfdaşlıqları → coğrafi genişlənmə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Güclü launch kampaniyası (premium büdcə) + daimi CAC/LTV optimallaşdırması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YOL XƏRİTƏSİ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İlk 5 ay köklü quruluş — sonra güclü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Ay 1–5: QURULUŞ (gəlir yoxdur) — senior komanda ilə Auth, DB, qiymət mühərriki, CAD, ödəniş, supplier-lər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Ay 6: LAUNCH — güclü marketinq, ilk sifarişlər, supplier istehsalı, gəlir başlayır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6–14: Brauzer CAD v1, marketplace, tam sifariş→çatdırılma dövrü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14–24: Orta bazarda böyümə, supplier şəbəkəsinin genişlənməsi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24–36: Business/API ilə yuxarı bazara çıxış, STEP export, beynəlxalq genişlənmə, mənfəət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Senior nüvə, köklü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Nüvə (Ay 1): CEO + CTO/Baş arxitekt + Senior CAD/3D + Senior Frontend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2–4: Senior Backend, UI/UX, DevOps, Supplier Manager, CFO, Marketinq lead, QA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6–8: 3D kontent, Order ops/Logistika, Müştəri dəstəyi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Ay 12–20: SMM, Sales/BizDev, əlavə developer və dəstək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36 ayın sonunda 18 nəfərlik güclü komanda · remote-first · Azərbaycan bazlı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MALİYYƏ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Harda olacağıq — 18 və 36 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$25K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18 AY — aylıq gəlir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21031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$179K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— aylıq gəlir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033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$300K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18 AY — illik run-rate (ARR)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703320"/>
            <a:ext cx="5212080" cy="141732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$2.15M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— illik run-rate (ARR)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İl 1 gəlir $50K · İl 2 $341K · İl 3 $1.28M   |   Breakeven ≈ 29-ci ay · İl 3 mənfəətli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9EA4"/>
                </a:solidFill>
                <a:latin typeface="Calibri"/>
              </a:rPr>
              <a:t>36 ayda sifariş 1,648/ay · ödənişli abunəçi 4,411 · komanda 18 nəfər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İNVESTİSİYA TƏLƏBİ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Tələb: $1.20M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$1.20M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Seed investisiya (köklü start)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FFB300"/>
                </a:solidFill>
                <a:latin typeface="Calibri"/>
              </a:rPr>
              <a:t>~30 ay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Runway (breakeven-ə qədər)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 i="0">
                <a:solidFill>
                  <a:srgbClr val="57C98A"/>
                </a:solidFill>
                <a:latin typeface="Calibri"/>
              </a:rPr>
              <a:t>$2.15M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9EA4"/>
                </a:solidFill>
                <a:latin typeface="Calibri"/>
              </a:rPr>
              <a:t>36 ay ARR hədəfi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İstifadə: komanda ~60% · məhsul/infra ~12% · marketinq ~20% · əməliyyat/inzibati ~8%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İlk 5 ay köklü quruluş (gəlirsiz) tam maliyyələşdirilir → ən yüksək səviyyədə launch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57C98A"/>
                </a:solidFill>
                <a:latin typeface="Calibri"/>
              </a:rPr>
              <a:t>Plan: orta bazarı tut → $2.15M ARR-ə çat → yuxarı bazara genişlən, mənfəətli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Gəlin birlikdə quraq.</a:t>
            </a:r>
          </a:p>
          <a:p>
            <a:pPr algn="l">
              <a:spcAft>
                <a:spcPts val="24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FEEDRATE — fayldan hazır hissəyə, anında. Orta bazardan başlayıb yuxarıya.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9EA4"/>
                </a:solidFill>
                <a:latin typeface="Calibri"/>
              </a:rPr>
              <a:t>Kayzen  ·  support@kayzen.az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