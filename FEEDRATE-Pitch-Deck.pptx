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 i="0">
                <a:solidFill>
                  <a:srgbClr val="FFFFFF"/>
                </a:solidFill>
                <a:latin typeface="Calibri"/>
              </a:rPr>
              <a:t>FEEDRATE</a:t>
            </a:r>
          </a:p>
          <a:p>
            <a:pPr algn="l">
              <a:spcAft>
                <a:spcPts val="1800"/>
              </a:spcAft>
            </a:pPr>
            <a:r>
              <a:rPr sz="2200" b="0" i="0">
                <a:solidFill>
                  <a:srgbClr val="FFB300"/>
                </a:solidFill>
                <a:latin typeface="Calibri"/>
              </a:rPr>
              <a:t>CNC frezeleme &amp; 3D-çap üçün anında qiymət → sifariş → istehsal → çatdırılma platforması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9A9EA4"/>
                </a:solidFill>
                <a:latin typeface="Calibri"/>
              </a:rPr>
              <a:t>Self-serve · brauzer CAD · supplier şəbəkəsi · marketplace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9A9EA4"/>
                </a:solidFill>
                <a:latin typeface="Calibri"/>
              </a:rPr>
              <a:t>İnvestor təqdimatı  ·  Kayzen  ·  support@kayzen.az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Hissə istehsal etdirmək yavaş, bahalı və qırıqdır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78992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CNC/3D sifarişdə qiymət almaq günlər çəkir — email, gözləmə, geriyə-irəli yazışma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Kiçik müştəri/mühəndis peşəkar CAD (SolidWorks/Fusion) almaq və öyrənmək istəmir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Qiymət ayrı, sifariş ayrı, emalatxana tapmaq ayrı — vahid axın yoxdur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Etibarlı emalatxana tapmaq, keyfiyyət və çatdırılmanı izləmək çətindir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FFB300"/>
                </a:solidFill>
                <a:latin typeface="Calibri"/>
              </a:rPr>
              <a:t>Nəticə: layihələr ləngiyir, qiymət şəffaf deyil, kiçik sifarişçi kənarda qalır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HƏLL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Fayldan hazır hissəyə — bir platformada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78992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Anında qiymət: model yüklə / kitabxanadan seç / brauzer CAD-da qur → saniyələrlə qiymət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Tək kliklə sifariş + ödəniş — heç bir yazışma, heç bir gözləmə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Supplier şəbəkəsi: sifariş ən uyğun emalatxanaya yönlənir, hazırlanır, çatdırılır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Biz hər sifarişdən marja saxlayırıq — istehsalı biz etmirik, koordinasiya edirik (yüngül model)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57C98A"/>
                </a:solidFill>
                <a:latin typeface="Calibri"/>
              </a:rPr>
              <a:t>Üstəlik: dizayn marketplace — istifadəçilər öz modellərini satır, biz komissiya alırıq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NECƏ İŞLƏYİR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Qiymətdən çatdırılmaya — 7 addım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900" b="0" i="0">
                <a:solidFill>
                  <a:srgbClr val="ECEAE5"/>
                </a:solidFill>
                <a:latin typeface="Calibri"/>
              </a:rPr>
              <a:t>1 · Model (yüklə / seç / CAD-da qur)</a:t>
            </a:r>
          </a:p>
          <a:p>
            <a:pPr algn="l">
              <a:spcAft>
                <a:spcPts val="1100"/>
              </a:spcAft>
            </a:pPr>
            <a:r>
              <a:rPr sz="1900" b="0" i="0">
                <a:solidFill>
                  <a:srgbClr val="FFB300"/>
                </a:solidFill>
                <a:latin typeface="Calibri"/>
              </a:rPr>
              <a:t>2 · Anında qiymət</a:t>
            </a:r>
          </a:p>
          <a:p>
            <a:pPr algn="l">
              <a:spcAft>
                <a:spcPts val="1100"/>
              </a:spcAft>
            </a:pPr>
            <a:r>
              <a:rPr sz="1900" b="1" i="0">
                <a:solidFill>
                  <a:srgbClr val="ECEAE5"/>
                </a:solidFill>
                <a:latin typeface="Calibri"/>
              </a:rPr>
              <a:t>3 · Sifariş + ödəniş</a:t>
            </a:r>
          </a:p>
          <a:p>
            <a:pPr algn="l">
              <a:spcAft>
                <a:spcPts val="1100"/>
              </a:spcAft>
            </a:pPr>
            <a:r>
              <a:rPr sz="1900" b="0" i="0">
                <a:solidFill>
                  <a:srgbClr val="ECEAE5"/>
                </a:solidFill>
                <a:latin typeface="Calibri"/>
              </a:rPr>
              <a:t>4 · Supplier-ə marşrutlaşdırma</a:t>
            </a:r>
          </a:p>
          <a:p>
            <a:pPr algn="l">
              <a:spcAft>
                <a:spcPts val="1100"/>
              </a:spcAft>
            </a:pPr>
            <a:r>
              <a:rPr sz="1900" b="0" i="0">
                <a:solidFill>
                  <a:srgbClr val="ECEAE5"/>
                </a:solidFill>
                <a:latin typeface="Calibri"/>
              </a:rPr>
              <a:t>5 · İstehsal (CNC/3D-print)</a:t>
            </a:r>
          </a:p>
          <a:p>
            <a:pPr algn="l">
              <a:spcAft>
                <a:spcPts val="1100"/>
              </a:spcAft>
            </a:pPr>
            <a:r>
              <a:rPr sz="1900" b="0" i="0">
                <a:solidFill>
                  <a:srgbClr val="ECEAE5"/>
                </a:solidFill>
                <a:latin typeface="Calibri"/>
              </a:rPr>
              <a:t>6 · Keyfiyyət + çatdırılma</a:t>
            </a:r>
          </a:p>
          <a:p>
            <a:pPr algn="l">
              <a:spcAft>
                <a:spcPts val="1100"/>
              </a:spcAft>
            </a:pPr>
            <a:r>
              <a:rPr sz="1900" b="1" i="0">
                <a:solidFill>
                  <a:srgbClr val="FFB300"/>
                </a:solidFill>
                <a:latin typeface="Calibri"/>
              </a:rPr>
              <a:t>7 · Supplier payout · biz marja saxlayırıq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46C9C1"/>
                </a:solidFill>
                <a:latin typeface="Calibri"/>
              </a:rPr>
              <a:t>İstehsalı biz etmirik — qiymət, ödəniş, marşrutlaşdırma və keyfiyyəti biz idarə edirik.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MƏHSUL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Üç modul, bir axın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78992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3D model kitabxanası — hazır parametrik modellər, ölçü qoy → qiymət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Brauzer CAD redaktoru (Three.js + CSG) — quraşdırma yox, anlıq qiymət, STL/OBJ/STEP export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İstehsal marketplace — sifariş → supplier → keyfiyyət → çatdırılma + payout (Stripe Connect)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Dizayn marketplace — listing, alış, komissiya, payout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9A9EA4"/>
                </a:solidFill>
                <a:latin typeface="Calibri"/>
              </a:rPr>
              <a:t>•  Limit/anti-abuse: anonim 1 qiymət → pulsuz hesab 5/ay → ödənişli paketlər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BAZAR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Böyüyən on-demand istehsal bazarı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3383280" cy="182880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FFB300"/>
                </a:solidFill>
                <a:latin typeface="Calibri"/>
              </a:rPr>
              <a:t>TAM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9EA4"/>
                </a:solidFill>
                <a:latin typeface="Calibri"/>
              </a:rPr>
              <a:t>Qlobal rəqəmsal istehsal —
onlarla milyard $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2194560"/>
            <a:ext cx="3383280" cy="182880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FFB300"/>
                </a:solidFill>
                <a:latin typeface="Calibri"/>
              </a:rPr>
              <a:t>SAM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9EA4"/>
                </a:solidFill>
                <a:latin typeface="Calibri"/>
              </a:rPr>
              <a:t>Self-serve instant-quote +
onlayn CAD istifadəçiləri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2194560"/>
            <a:ext cx="3291840" cy="182880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57C98A"/>
                </a:solidFill>
                <a:latin typeface="Calibri"/>
              </a:rPr>
              <a:t>SOM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9EA4"/>
                </a:solidFill>
                <a:latin typeface="Calibri"/>
              </a:rPr>
              <a:t>3 ildə aylıq 50K+ ziyarətçi,
minlərlə sifariş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8056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ECEAE5"/>
                </a:solidFill>
                <a:latin typeface="Calibri"/>
              </a:rPr>
              <a:t>Trendlər: distributed manufacturing, 3D-print bumu, brauzer/no-code alətlər, qısa tədarük zənciri.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B300"/>
                </a:solidFill>
                <a:latin typeface="Calibri"/>
              </a:rPr>
              <a:t>Giriş nöqtəsi: anonim 1 pulsuz qiymət = viral, sürtünməsiz cəlb.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BİZNES MODELİ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3 gəlir mənbəyi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3383280" cy="210312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FFB300"/>
                </a:solidFill>
                <a:latin typeface="Calibri"/>
              </a:rPr>
              <a:t>~20%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9EA4"/>
                </a:solidFill>
                <a:latin typeface="Calibri"/>
              </a:rPr>
              <a:t>İSTEHSAL MARJASI (əsas)
hər sifariş GMV-dən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2194560"/>
            <a:ext cx="3383280" cy="210312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FFB300"/>
                </a:solidFill>
                <a:latin typeface="Calibri"/>
              </a:rPr>
              <a:t>$9–$99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9EA4"/>
                </a:solidFill>
                <a:latin typeface="Calibri"/>
              </a:rPr>
              <a:t>ABUNƏ (SaaS)
CAD + qiymət alətləri / ay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2194560"/>
            <a:ext cx="3291840" cy="210312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FFB300"/>
                </a:solidFill>
                <a:latin typeface="Calibri"/>
              </a:rPr>
              <a:t>~8%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9EA4"/>
                </a:solidFill>
                <a:latin typeface="Calibri"/>
              </a:rPr>
              <a:t>DİZAYN KOMİSSİYA
marketplace satışından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66344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ECEAE5"/>
                </a:solidFill>
                <a:latin typeface="Calibri"/>
              </a:rPr>
              <a:t>İstehsal: ödənişi biz toplayırıq, supplier-ə payout edirik, marjanı saxlayırıq.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7C98A"/>
                </a:solidFill>
                <a:latin typeface="Calibri"/>
              </a:rPr>
              <a:t>Üç axın = həcmlə böyüyən marja + təkrar MRR + iki tərəfli marketplace effekti.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SUPPLIER ŞƏBƏKƏSİ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İstehsalsız, lakin tam nəzarətli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78992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Yoxlanmış CNC/3D-print emalatxanaları şəbəkəsi — biz onlara sifariş gətiririk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Marşrutlaşdırma: hər sifariş qiymət/məkan/imkana görə ən uyğun supplier-ə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Keyfiyyət standartı, izləmə və qiymətləndirmə — pis supplier sistemdən çıxır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Bizdə əsas vəsait (avadanlıq) yoxdur → yüngül, miqyaslana bilən model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57C98A"/>
                </a:solidFill>
                <a:latin typeface="Calibri"/>
              </a:rPr>
              <a:t>Çox supplier = aşağı qiymət, sürətli çatdırılma, regional əhatə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QİYMƏT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Freemium → ödənişli paketlər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78992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Free $0 — 5 hesablama / 5 yükləmə, məhdud CAD, sifariş icazəli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Starter $9 — 50 hesablama / 25 yükləmə, tam CAD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Pro $29 — limitsiz hesablama / 100 yükləmə, brendli PDF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Business $99 — limitsiz, API/komanda, prioritet supplier &amp; dəstək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FFB300"/>
                </a:solidFill>
                <a:latin typeface="Calibri"/>
              </a:rPr>
              <a:t>Blended ARPU ~$24/ay · istehsal sifarişləri paketdən asılı deyil, hamı sifariş verə bilər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RƏQABƏT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Niyə fərqliyik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78992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Xometry / Protolabs — instant-quote var, lakin ağır B2B, supplier-ağır, kiçik sifarişçi üçün deyil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Thangs / Thingiverse — model var, qiymət/sifariş yox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Onshape / Tinkercad — CAD var, qiymət + istehsal + marketplace yox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FFB300"/>
                </a:solidFill>
                <a:latin typeface="Calibri"/>
              </a:rPr>
              <a:t>FEEDRATE = QİYMƏT + BRAUZER CAD + SİFARİŞ + SUPPLIER İSTEHSAL + MARKETPLACE — hamısı bir yerdə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57C98A"/>
                </a:solidFill>
                <a:latin typeface="Calibri"/>
              </a:rPr>
              <a:t>Self-serve, qlobal, kiçik sifarişçiyə açıq, yüngül əsaslı model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GET-TO-MARKET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Necə böyüyəcəyik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78992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SEO + kontent (CNC/3D-print qiymət açar sözləri) — anonim 1 pulsuz qiymət viral giriş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Maker icmaları: Reddit, Discord, YouTube, mühəndis forumları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Marketplace satıcıları öz auditoriyasını gətirir — iki tərəfli böyümə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Supplier tərəfdaşlıqları → coğrafi genişlənmə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9A9EA4"/>
                </a:solidFill>
                <a:latin typeface="Calibri"/>
              </a:rPr>
              <a:t>•  Marketinq büdcəsi gəlirin ~20%-i, CAC/LTV daim izlənir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YOL XƏRİTƏSİ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İlk 5 ay quruluş — sonra gəlir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78992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FFB300"/>
                </a:solidFill>
                <a:latin typeface="Calibri"/>
              </a:rPr>
              <a:t>Ay 1–5: QURULUŞ (gəlir yoxdur) — Auth, DB, qiymət mühərriki, CAD, ödəniş, ilk supplier-lər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57C98A"/>
                </a:solidFill>
                <a:latin typeface="Calibri"/>
              </a:rPr>
              <a:t>Ay 6: LAUNCH — ilk sifarişlər, supplier istehsalı, gəlir başlayır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Ay 6–14: Brauzer CAD v1, marketplace, tam sifariş→çatdırılma dövrü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Ay 14–24: Böyümə, daha çox supplier, breakeven-ə yaxınlaşma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Ay 24–36: B2B/API, STEP export, beynəlxalq genişlənmə, mənfəət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KOMANDA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Yüngül, fazalı işə qəbul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78992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Nüvə (Ay 1): CEO/Təsisçi + CTO/Lead CAD developer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Ay 2–7: Frontend, Backend, UI/UX, Operations/Supplier Manager, Marketinq, Financist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Ay 10–13: 3D kontent, Order ops/Logistika, Müştəri dəstəyi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Ay 19–25: QA developer #2, Sales/BizDev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9A9EA4"/>
                </a:solidFill>
                <a:latin typeface="Calibri"/>
              </a:rPr>
              <a:t>•  36 ayın sonunda ~13 nəfər · remote-first · Azərbaycan bazlı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MALİYYƏ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Harda olacağıq — 18 və 36 ay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5212080" cy="141732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FFB300"/>
                </a:solidFill>
                <a:latin typeface="Calibri"/>
              </a:rPr>
              <a:t>$12K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9EA4"/>
                </a:solidFill>
                <a:latin typeface="Calibri"/>
              </a:rPr>
              <a:t>18 AY — aylıq gəlir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2103120"/>
            <a:ext cx="5212080" cy="141732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57C98A"/>
                </a:solidFill>
                <a:latin typeface="Calibri"/>
              </a:rPr>
              <a:t>$76K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9EA4"/>
                </a:solidFill>
                <a:latin typeface="Calibri"/>
              </a:rPr>
              <a:t>36 AY — aylıq gəlir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703320"/>
            <a:ext cx="5212080" cy="141732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FFB300"/>
                </a:solidFill>
                <a:latin typeface="Calibri"/>
              </a:rPr>
              <a:t>$148K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9EA4"/>
                </a:solidFill>
                <a:latin typeface="Calibri"/>
              </a:rPr>
              <a:t>18 AY — illik run-rate (ARR)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3703320"/>
            <a:ext cx="5212080" cy="141732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57C98A"/>
                </a:solidFill>
                <a:latin typeface="Calibri"/>
              </a:rPr>
              <a:t>$907K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9EA4"/>
                </a:solidFill>
                <a:latin typeface="Calibri"/>
              </a:rPr>
              <a:t>36 AY — illik run-rate (ARR)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34924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ECEAE5"/>
                </a:solidFill>
                <a:latin typeface="Calibri"/>
              </a:rPr>
              <a:t>İl 1 gəlir $26K · İl 2 $165K · İl 3 $561K   |   Breakeven ≈ 29-ci ay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9A9EA4"/>
                </a:solidFill>
                <a:latin typeface="Calibri"/>
              </a:rPr>
              <a:t>36 ayda sifariş 785/ay · ödənişli abunəçi 2,051 · komanda 13 nəfər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İNVESTİSİYA TƏLƏBİ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Tələb: $368K seed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83280" cy="155448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FFB300"/>
                </a:solidFill>
                <a:latin typeface="Calibri"/>
              </a:rPr>
              <a:t>$368K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9EA4"/>
                </a:solidFill>
                <a:latin typeface="Calibri"/>
              </a:rPr>
              <a:t>Seed investisiya (bufer ilə)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2103120"/>
            <a:ext cx="3383280" cy="155448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FFB300"/>
                </a:solidFill>
                <a:latin typeface="Calibri"/>
              </a:rPr>
              <a:t>~24 ay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9EA4"/>
                </a:solidFill>
                <a:latin typeface="Calibri"/>
              </a:rPr>
              <a:t>Runway (breakeven-ə qədər)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2103120"/>
            <a:ext cx="3291840" cy="155448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57C98A"/>
                </a:solidFill>
                <a:latin typeface="Calibri"/>
              </a:rPr>
              <a:t>$907K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9EA4"/>
                </a:solidFill>
                <a:latin typeface="Calibri"/>
              </a:rPr>
              <a:t>36 ay ARR hədəfi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10789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ECEAE5"/>
                </a:solidFill>
                <a:latin typeface="Calibri"/>
              </a:rPr>
              <a:t>•  İstifadə: komanda ~55% · məhsul/infra ~15% · marketinq ~20% · əməliyyat/inzibati ~10%</a:t>
            </a:r>
          </a:p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ECEAE5"/>
                </a:solidFill>
                <a:latin typeface="Calibri"/>
              </a:rPr>
              <a:t>•  İlk 5 ay quruluş (gəlirsiz) tam maliyyələşdirilir → launch-a hazır məhsul</a:t>
            </a:r>
          </a:p>
          <a:p>
            <a:pPr algn="l">
              <a:spcAft>
                <a:spcPts val="900"/>
              </a:spcAft>
            </a:pPr>
            <a:r>
              <a:rPr sz="1600" b="1" i="0">
                <a:solidFill>
                  <a:srgbClr val="57C98A"/>
                </a:solidFill>
                <a:latin typeface="Calibri"/>
              </a:rPr>
              <a:t>Plan: 36 ayda $907K ARR, mənfəətli, genişlənən supplier şəbəkəsi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Gəlin birlikdə quraq.</a:t>
            </a:r>
          </a:p>
          <a:p>
            <a:pPr algn="l">
              <a:spcAft>
                <a:spcPts val="2400"/>
              </a:spcAft>
            </a:pPr>
            <a:r>
              <a:rPr sz="2200" b="0" i="0">
                <a:solidFill>
                  <a:srgbClr val="FFB300"/>
                </a:solidFill>
                <a:latin typeface="Calibri"/>
              </a:rPr>
              <a:t>FEEDRATE — fayldan hazır hissəyə, anında.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9A9EA4"/>
                </a:solidFill>
                <a:latin typeface="Calibri"/>
              </a:rPr>
              <a:t>Kayzen  ·  support@kayzen.az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