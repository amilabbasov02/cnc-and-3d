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607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5800" b="1" i="0">
                <a:solidFill>
                  <a:srgbClr val="FFFFFF"/>
                </a:solidFill>
                <a:latin typeface="Calibri"/>
              </a:rPr>
              <a:t>KAYZEN</a:t>
            </a:r>
          </a:p>
          <a:p>
            <a:pPr algn="l">
              <a:spcAft>
                <a:spcPts val="1600"/>
              </a:spcAft>
            </a:pPr>
            <a:r>
              <a:rPr sz="2200" b="0" i="0">
                <a:solidFill>
                  <a:srgbClr val="FFB300"/>
                </a:solidFill>
                <a:latin typeface="Calibri"/>
              </a:rPr>
              <a:t>İstehsal-texnologiya şirkəti — bir nüvə, ardıcıl çıxan məhsul portfeli</a:t>
            </a:r>
          </a:p>
          <a:p>
            <a:pPr algn="l">
              <a:spcAft>
                <a:spcPts val="1400"/>
              </a:spcAft>
            </a:pPr>
            <a:r>
              <a:rPr sz="1500" b="0" i="0">
                <a:solidFill>
                  <a:srgbClr val="9A9EA4"/>
                </a:solidFill>
                <a:latin typeface="Calibri"/>
              </a:rPr>
              <a:t>Brauzer CAD + qiymət mühərriki + ödəniş nüvəsi üzərində 4 məhsul · tək komanda · tək şirkət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9A9EA4"/>
                </a:solidFill>
                <a:latin typeface="Calibri"/>
              </a:rPr>
              <a:t>İnvestor təqdimatı · Kayzen · support@kayzen.az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VİZYON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Tək məhsul deyil — istehsal-texnologiya mühərriki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88136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İstehsal/CAD sahəsi parçalanıb: qiymət ayrı, CAD ayrı, sifariş ayrı, DFM ayrı alətlərdədir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Biz bir texnoloji nüvə qururuq (Three.js CAD + qiymət mühərriki + Stripe + analitika)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Bu nüvənin üstündə ardıcıl olaraq 4 məhsul çıxarırıq — hər biri ayrı sayt/brend, bir az fərqli bazar</a:t>
            </a:r>
          </a:p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FFB300"/>
                </a:solidFill>
                <a:latin typeface="Calibri"/>
              </a:rPr>
              <a:t>Hamısı bir şirkətdə cəmlənir, eyni komanda ilə — komanda heç vaxt boş qalmır</a:t>
            </a:r>
          </a:p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57C98A"/>
                </a:solidFill>
                <a:latin typeface="Calibri"/>
              </a:rPr>
              <a:t>İnvestor bir məhsula yox, çoxlu atışlı istehsal-texnologiya platformasına investisiya edir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Hər istehsal addımı üçün ayrıca, baha, kobud alət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88136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Sifarişçi: hissə qiyməti almaq günlər çəkir, kiçik sifariş üçün self-serve həll yoxdur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Emalatxana: qiymət/sifarişi hələ də email + Excel ilə idarə edir — proqram yoxdur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Mühəndis: sürətli istehsal-uyğunluq (DFM) yoxlaması üçün ucuz alət tapmır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E-commerce satıcı: custom məhsul üçün 3D konfiqurator + anında qiymət qoya bilmir</a:t>
            </a:r>
          </a:p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FFB300"/>
                </a:solidFill>
                <a:latin typeface="Calibri"/>
              </a:rPr>
              <a:t>Hər biri ayrıca böyük bazardır — və hamısı eyni texnoloji nüvəni tələb edir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STRATEGİYA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Bir nüvə → ardıcıl GTM → bir komanda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88136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1) Paylaşılan nüvəni bir dəfə qur (CAD, qiymət, ödəniş, fayl, analitika) — ~70% hər məhsulda təkrar işlənir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2) Hər məhsul bu nüvənin üstündə fərqli bazara «paketlənmiş» go-to-market-dir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3) Ardıcıl çıxar: bir məhsul launch olub stabilləşəndə komanda növbətiyə axır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4) Hər məhsul növbətindən əvvəl validasiya olunur — risk pillə-pillə azalır</a:t>
            </a:r>
          </a:p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57C98A"/>
                </a:solidFill>
                <a:latin typeface="Calibri"/>
              </a:rPr>
              <a:t>Nəticə: 4 məhsul, ~28 nəfər, tək seed — 4 ayrı şirkətin kəsri qədər kapitalla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PAYLAŞILAN NÜVƏ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Bir dəfə qurulan, dəfələrlə işlədilən texnologiya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94560"/>
            <a:ext cx="3383280" cy="1737360"/>
          </a:xfrm>
          <a:prstGeom prst="rect">
            <a:avLst/>
          </a:prstGeom>
          <a:solidFill>
            <a:srgbClr val="171A1E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FFB300"/>
                </a:solidFill>
                <a:latin typeface="Calibri"/>
              </a:rPr>
              <a:t>Brauzer CAD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Three.js + CSG
geometriya/mesh emalı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4840" y="2194560"/>
            <a:ext cx="3383280" cy="1737360"/>
          </a:xfrm>
          <a:prstGeom prst="rect">
            <a:avLst/>
          </a:prstGeom>
          <a:solidFill>
            <a:srgbClr val="171A1E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FFB300"/>
                </a:solidFill>
                <a:latin typeface="Calibri"/>
              </a:rPr>
              <a:t>Qiymət mühərriki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material+vaxt+marja
no-code qayda builder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2194560"/>
            <a:ext cx="3291840" cy="1737360"/>
          </a:xfrm>
          <a:prstGeom prst="rect">
            <a:avLst/>
          </a:prstGeom>
          <a:solidFill>
            <a:srgbClr val="171A1E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FFB300"/>
                </a:solidFill>
                <a:latin typeface="Calibri"/>
              </a:rPr>
              <a:t>Ödəniş + Connect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Stripe abunə + payout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114800"/>
            <a:ext cx="3383280" cy="1737360"/>
          </a:xfrm>
          <a:prstGeom prst="rect">
            <a:avLst/>
          </a:prstGeom>
          <a:solidFill>
            <a:srgbClr val="171A1E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FFB300"/>
                </a:solidFill>
                <a:latin typeface="Calibri"/>
              </a:rPr>
              <a:t>Fayl pipeline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STL/STEP/OBJ
yükləmə, render, saxlama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4114800"/>
            <a:ext cx="3383280" cy="1737360"/>
          </a:xfrm>
          <a:prstGeom prst="rect">
            <a:avLst/>
          </a:prstGeom>
          <a:solidFill>
            <a:srgbClr val="171A1E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FFB300"/>
                </a:solidFill>
                <a:latin typeface="Calibri"/>
              </a:rPr>
              <a:t>Auth + Analitika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istifadə, konversiya,
dashboard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4114800"/>
            <a:ext cx="3291840" cy="1737360"/>
          </a:xfrm>
          <a:prstGeom prst="rect">
            <a:avLst/>
          </a:prstGeom>
          <a:solidFill>
            <a:srgbClr val="171A1E"/>
          </a:solidFill>
          <a:ln w="12700">
            <a:solidFill>
              <a:srgbClr val="57C9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57C98A"/>
                </a:solidFill>
                <a:latin typeface="Calibri"/>
              </a:rPr>
              <a:t>~70%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hər yeni məhsulda
təkrar işlənən kod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MƏHSUL · FEEDRATE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İstehsal marketplace — qiymətdən çatdırılmaya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88136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Anında qiymət → sifariş → supplier istehsalı → keyfiyyət → çatdırılma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Gəlir: istehsal marjası ~22% + abunə + dizayn komissiya</a:t>
            </a:r>
          </a:p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FFB300"/>
                </a:solidFill>
                <a:latin typeface="Calibri"/>
              </a:rPr>
              <a:t>Orta bazar fokusu (Xometry/Protolabs yüksək bazara baxır) — disruption from below</a:t>
            </a:r>
          </a:p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57C98A"/>
                </a:solidFill>
                <a:latin typeface="Calibri"/>
              </a:rPr>
              <a:t>Rolu: flaqman + nağd axın + supplier şəbəkəsi (digər məhsulları qidalandırır)</a:t>
            </a:r>
          </a:p>
        </p:txBody>
      </p:sp>
      <p:sp>
        <p:nvSpPr>
          <p:cNvPr id="7" name="Rectangle 6"/>
          <p:cNvSpPr/>
          <p:nvPr/>
        </p:nvSpPr>
        <p:spPr>
          <a:xfrm>
            <a:off x="8778240" y="640080"/>
            <a:ext cx="2743200" cy="1005840"/>
          </a:xfrm>
          <a:prstGeom prst="rect">
            <a:avLst/>
          </a:prstGeom>
          <a:solidFill>
            <a:srgbClr val="171A1E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FFB300"/>
                </a:solidFill>
                <a:latin typeface="Calibri"/>
              </a:rPr>
              <a:t>Launch: Ay 6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FEEDRATE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MƏHSUL · QUOTEFLOW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Embed quote-widget SaaS — emalatxanalar üçün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88136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Emalatxana abunə olur, dizaynı öz saytına uyğunlaşdırır, öz qiymət məntiqini yazır, embed götürür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Analitika: kim istifadə etdi, neçə quote, neçəsi sifarişə çevrildi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Rəqib: DigiFabster/3YOURMIND — amma köhnə UX, CAD redaktoru yoxdur</a:t>
            </a:r>
          </a:p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57C98A"/>
                </a:solidFill>
                <a:latin typeface="Calibri"/>
              </a:rPr>
              <a:t>Gəlir: $140/ay abunə · saf B2B SaaS, fiziki icra yox → yüksək marja</a:t>
            </a:r>
          </a:p>
        </p:txBody>
      </p:sp>
      <p:sp>
        <p:nvSpPr>
          <p:cNvPr id="7" name="Rectangle 6"/>
          <p:cNvSpPr/>
          <p:nvPr/>
        </p:nvSpPr>
        <p:spPr>
          <a:xfrm>
            <a:off x="8778240" y="640080"/>
            <a:ext cx="2743200" cy="1005840"/>
          </a:xfrm>
          <a:prstGeom prst="rect">
            <a:avLst/>
          </a:prstGeom>
          <a:solidFill>
            <a:srgbClr val="171A1E"/>
          </a:solidFill>
          <a:ln w="12700">
            <a:solidFill>
              <a:srgbClr val="5C9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5C9CFF"/>
                </a:solidFill>
                <a:latin typeface="Calibri"/>
              </a:rPr>
              <a:t>Launch: Ay 12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QUOTEFLOW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MƏHSUL · FORMCHECK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DFM analiz SaaS — istehsal-uyğunluq yoxlaması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88136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CAD yüklə → divar qalınlığı, tolerans, undercut, qiyməti artıran amillər + AI tövsiyə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Boşluq: SMB üçün yüngül, self-serve DFM aləti demək olar yoxdur (aPriori enterprise/bahalı)</a:t>
            </a:r>
          </a:p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57C98A"/>
                </a:solidFill>
                <a:latin typeface="Calibri"/>
              </a:rPr>
              <a:t>Gəlir: freemium → $39/ay · brauzer mesh analizi (nüvə təkrar)</a:t>
            </a:r>
          </a:p>
        </p:txBody>
      </p:sp>
      <p:sp>
        <p:nvSpPr>
          <p:cNvPr id="7" name="Rectangle 6"/>
          <p:cNvSpPr/>
          <p:nvPr/>
        </p:nvSpPr>
        <p:spPr>
          <a:xfrm>
            <a:off x="8778240" y="640080"/>
            <a:ext cx="2743200" cy="1005840"/>
          </a:xfrm>
          <a:prstGeom prst="rect">
            <a:avLst/>
          </a:prstGeom>
          <a:solidFill>
            <a:srgbClr val="171A1E"/>
          </a:solidFill>
          <a:ln w="12700">
            <a:solidFill>
              <a:srgbClr val="57C9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57C98A"/>
                </a:solidFill>
                <a:latin typeface="Calibri"/>
              </a:rPr>
              <a:t>Launch: Ay 20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FORMCHECK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MƏHSUL · CONFIGFLOW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E-commerce 3D konfiqurator / CPQ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88136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Custom məhsul satıcıları (mebel, lövhə, bracket, korpus) öz mağazasına 3D konfiqurator + anında qiymət qoyur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Shopify/Woo app store = hazır paylama kanalı</a:t>
            </a:r>
          </a:p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57C98A"/>
                </a:solidFill>
                <a:latin typeface="Calibri"/>
              </a:rPr>
              <a:t>Gəlir: $89/ay abunə + tranzaksiya · Three.js + qiymət nüvəsi təkrar</a:t>
            </a:r>
          </a:p>
        </p:txBody>
      </p:sp>
      <p:sp>
        <p:nvSpPr>
          <p:cNvPr id="7" name="Rectangle 6"/>
          <p:cNvSpPr/>
          <p:nvPr/>
        </p:nvSpPr>
        <p:spPr>
          <a:xfrm>
            <a:off x="8778240" y="640080"/>
            <a:ext cx="2743200" cy="1005840"/>
          </a:xfrm>
          <a:prstGeom prst="rect">
            <a:avLst/>
          </a:prstGeom>
          <a:solidFill>
            <a:srgbClr val="171A1E"/>
          </a:solidFill>
          <a:ln w="12700">
            <a:solidFill>
              <a:srgbClr val="B97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B97DF0"/>
                </a:solidFill>
                <a:latin typeface="Calibri"/>
              </a:rPr>
              <a:t>Launch: Ay 28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CONFIGFLOW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AXAN KOMANDA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Ardıcıl launch — komanda boş qalmır, işdən çıxarma yox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48840" y="17190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9A9EA4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26130" y="17190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9A9EA4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3420" y="17190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9A9EA4"/>
                </a:solidFill>
                <a:latin typeface="Calibri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80710" y="17190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9A9EA4"/>
                </a:solidFill>
                <a:latin typeface="Calibri"/>
              </a:rPr>
              <a:t>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7190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9A9EA4"/>
                </a:solidFill>
                <a:latin typeface="Calibri"/>
              </a:rPr>
              <a:t>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35290" y="17190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9A9EA4"/>
                </a:solidFill>
                <a:latin typeface="Calibri"/>
              </a:rPr>
              <a:t>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12580" y="17190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9A9EA4"/>
                </a:solidFill>
                <a:latin typeface="Calibri"/>
              </a:rPr>
              <a:t>36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89870" y="17190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9A9EA4"/>
                </a:solidFill>
                <a:latin typeface="Calibri"/>
              </a:rPr>
              <a:t>42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67160" y="17190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9A9EA4"/>
                </a:solidFill>
                <a:latin typeface="Calibri"/>
              </a:rPr>
              <a:t>48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12140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FEEDRATE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77440" y="2103120"/>
            <a:ext cx="981075" cy="384048"/>
          </a:xfrm>
          <a:prstGeom prst="rect">
            <a:avLst/>
          </a:prstGeom>
          <a:solidFill>
            <a:srgbClr val="171A1E"/>
          </a:solidFill>
          <a:ln w="9525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000" b="0" i="0">
                <a:solidFill>
                  <a:srgbClr val="FFB300"/>
                </a:solidFill>
                <a:latin typeface="Calibri"/>
              </a:rPr>
              <a:t>build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58515" y="2103120"/>
            <a:ext cx="8437245" cy="384048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000" b="1" i="0">
                <a:solidFill>
                  <a:srgbClr val="0D0E10"/>
                </a:solidFill>
                <a:latin typeface="Calibri"/>
              </a:rPr>
              <a:t>canlı · launch Ay6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779775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5C9CFF"/>
                </a:solidFill>
                <a:latin typeface="Calibri"/>
              </a:rPr>
              <a:t>QUOTEFLOW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47160" y="2761487"/>
            <a:ext cx="588645" cy="384048"/>
          </a:xfrm>
          <a:prstGeom prst="rect">
            <a:avLst/>
          </a:prstGeom>
          <a:solidFill>
            <a:srgbClr val="171A1E"/>
          </a:solidFill>
          <a:ln w="9525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000" b="0" i="0">
                <a:solidFill>
                  <a:srgbClr val="FFB300"/>
                </a:solidFill>
                <a:latin typeface="Calibri"/>
              </a:rPr>
              <a:t>build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35805" y="2761487"/>
            <a:ext cx="7259955" cy="384048"/>
          </a:xfrm>
          <a:prstGeom prst="rect">
            <a:avLst/>
          </a:prstGeom>
          <a:solidFill>
            <a:srgbClr val="5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000" b="1" i="0">
                <a:solidFill>
                  <a:srgbClr val="0D0E10"/>
                </a:solidFill>
                <a:latin typeface="Calibri"/>
              </a:rPr>
              <a:t>canlı · launch Ay12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438144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57C98A"/>
                </a:solidFill>
                <a:latin typeface="Calibri"/>
              </a:rPr>
              <a:t>FORMCHECK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16880" y="3419856"/>
            <a:ext cx="588645" cy="384048"/>
          </a:xfrm>
          <a:prstGeom prst="rect">
            <a:avLst/>
          </a:prstGeom>
          <a:solidFill>
            <a:srgbClr val="171A1E"/>
          </a:solidFill>
          <a:ln w="9525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000" b="0" i="0">
                <a:solidFill>
                  <a:srgbClr val="FFB300"/>
                </a:solidFill>
                <a:latin typeface="Calibri"/>
              </a:rPr>
              <a:t>build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05525" y="3419856"/>
            <a:ext cx="5690235" cy="384048"/>
          </a:xfrm>
          <a:prstGeom prst="rect">
            <a:avLst/>
          </a:prstGeom>
          <a:solidFill>
            <a:srgbClr val="57C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000" b="1" i="0">
                <a:solidFill>
                  <a:srgbClr val="0D0E10"/>
                </a:solidFill>
                <a:latin typeface="Calibri"/>
              </a:rPr>
              <a:t>canlı · launch Ay20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096511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B97DF0"/>
                </a:solidFill>
                <a:latin typeface="Calibri"/>
              </a:rPr>
              <a:t>CONFIGFLOW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86600" y="4078224"/>
            <a:ext cx="588645" cy="384048"/>
          </a:xfrm>
          <a:prstGeom prst="rect">
            <a:avLst/>
          </a:prstGeom>
          <a:solidFill>
            <a:srgbClr val="171A1E"/>
          </a:solidFill>
          <a:ln w="9525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000" b="0" i="0">
                <a:solidFill>
                  <a:srgbClr val="FFB300"/>
                </a:solidFill>
                <a:latin typeface="Calibri"/>
              </a:rPr>
              <a:t>build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75245" y="4078224"/>
            <a:ext cx="4120515" cy="384048"/>
          </a:xfrm>
          <a:prstGeom prst="rect">
            <a:avLst/>
          </a:prstGeom>
          <a:solidFill>
            <a:srgbClr val="B97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000" b="1" i="0">
                <a:solidFill>
                  <a:srgbClr val="0D0E10"/>
                </a:solidFill>
                <a:latin typeface="Calibri"/>
              </a:rPr>
              <a:t>canlı · launch Ay28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873752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ECEAE5"/>
                </a:solidFill>
                <a:latin typeface="Calibri"/>
              </a:rPr>
              <a:t>Ay 6 FEEDRATE launch → komandanın ~50%-i QUOTEFLOW-a axır · Ay 12 → FORMCHECK · Ay 20 → CONFIGFLOW</a:t>
            </a:r>
          </a:p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57C98A"/>
                </a:solidFill>
                <a:latin typeface="Calibri"/>
              </a:rPr>
              <a:t>Hər keçiddə nüvə komanda saxlanılır, yalnız GTM/məhsul qatı dəyişir — boş qalma və ya işdən çıxarma yoxdur.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KAPİTAL SƏMƏRƏLİLİYİ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4 məhsul — bir komandanın qiymətinə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94560"/>
            <a:ext cx="3383280" cy="1828800"/>
          </a:xfrm>
          <a:prstGeom prst="rect">
            <a:avLst/>
          </a:prstGeom>
          <a:solidFill>
            <a:srgbClr val="171A1E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FFB300"/>
                </a:solidFill>
                <a:latin typeface="Calibri"/>
              </a:rPr>
              <a:t>28 nəfər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48 ayda 4 məhsul üçün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4840" y="2194560"/>
            <a:ext cx="3383280" cy="1828800"/>
          </a:xfrm>
          <a:prstGeom prst="rect">
            <a:avLst/>
          </a:prstGeom>
          <a:solidFill>
            <a:srgbClr val="171A1E"/>
          </a:solidFill>
          <a:ln w="127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FF6B6B"/>
                </a:solidFill>
                <a:latin typeface="Calibri"/>
              </a:rPr>
              <a:t>~72 nəfər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4 ayrı şirkət olsaydı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2194560"/>
            <a:ext cx="3291840" cy="1828800"/>
          </a:xfrm>
          <a:prstGeom prst="rect">
            <a:avLst/>
          </a:prstGeom>
          <a:solidFill>
            <a:srgbClr val="171A1E"/>
          </a:solidFill>
          <a:ln w="12700">
            <a:solidFill>
              <a:srgbClr val="57C9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57C98A"/>
                </a:solidFill>
                <a:latin typeface="Calibri"/>
              </a:rPr>
              <a:t>~70%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təkrar işlənən nüvə kod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97680"/>
            <a:ext cx="10881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700" b="0" i="0">
                <a:solidFill>
                  <a:srgbClr val="ECEAE5"/>
                </a:solidFill>
                <a:latin typeface="Calibri"/>
              </a:rPr>
              <a:t>•  Paylaşılan back-office: bir CFO, bir marketinq mühərriki, bir infra, bir analitika</a:t>
            </a:r>
          </a:p>
          <a:p>
            <a:pPr algn="l">
              <a:spcAft>
                <a:spcPts val="900"/>
              </a:spcAft>
            </a:pPr>
            <a:r>
              <a:rPr sz="1700" b="0" i="0">
                <a:solidFill>
                  <a:srgbClr val="ECEAE5"/>
                </a:solidFill>
                <a:latin typeface="Calibri"/>
              </a:rPr>
              <a:t>•  Hər yeni məhsulun marjinal xərci aşağı — nüvə artıq var</a:t>
            </a:r>
          </a:p>
          <a:p>
            <a:pPr algn="l">
              <a:spcAft>
                <a:spcPts val="900"/>
              </a:spcAft>
            </a:pPr>
            <a:r>
              <a:rPr sz="1700" b="1" i="0">
                <a:solidFill>
                  <a:srgbClr val="57C98A"/>
                </a:solidFill>
                <a:latin typeface="Calibri"/>
              </a:rPr>
              <a:t>FEEDRATE nağd axını digər məhsulların build-ini maliyyələşdirir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«BU FOKUS İTKİSİ DEYİL?»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Xeyr — bir nüvə, ardıcıl icra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88136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Bu, 4 fərqli biznes deyil — bir texnoloji platformanın 4 go-to-market təbəqəsidir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Eyni anda 4 şey qurmuruq: ardıcıl çıxarırıq, biri stabilləşəndə digərinə keçirik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Hər məhsul növbətiyə START vermədən əvvəl bazarda validasiya olunur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Eyni müştəri seqmenti, eyni satış kanalları, eyni brend ekosistemi</a:t>
            </a:r>
          </a:p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FFB300"/>
                </a:solidFill>
                <a:latin typeface="Calibri"/>
              </a:rPr>
              <a:t>Risk azalır (çoxlu atış), fokus qalır (bir nüvə, bir komanda, bir vizyon)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SİNERGİYA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Məhsullar bir-birini qidalandırır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88136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QUOTEFLOW emalatxanaları → FEEDRATE marketplace üçün hazır supplier şəbəkəsi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FORMCHECK istifadəçiləri → FEEDRATE/QUOTEFLOW-da qiymət alıb sifarişə çevrilir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CONFIGFLOW e-commerce satıcıları → FEEDRATE-də istehsal sifariş edir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Tək hesab, tək ödəniş, tək data — cross-sell və yüksək LTV</a:t>
            </a:r>
          </a:p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57C98A"/>
                </a:solidFill>
                <a:latin typeface="Calibri"/>
              </a:rPr>
              <a:t>Hər yeni məhsul bütün portfelin dəyərini artırır (şəbəkə effekti)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BAZAR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4 bitişik bazar — onlarla milyard $ TAM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286000"/>
            <a:ext cx="2651760" cy="1828800"/>
          </a:xfrm>
          <a:prstGeom prst="rect">
            <a:avLst/>
          </a:prstGeom>
          <a:solidFill>
            <a:srgbClr val="171A1E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FFB300"/>
                </a:solidFill>
                <a:latin typeface="Calibri"/>
              </a:rPr>
              <a:t>İstehsal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on-demand manufacturing
(FEEDRATE)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2286000"/>
            <a:ext cx="2651760" cy="1828800"/>
          </a:xfrm>
          <a:prstGeom prst="rect">
            <a:avLst/>
          </a:prstGeom>
          <a:solidFill>
            <a:srgbClr val="171A1E"/>
          </a:solidFill>
          <a:ln w="12700">
            <a:solidFill>
              <a:srgbClr val="5C9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5C9CFF"/>
                </a:solidFill>
                <a:latin typeface="Calibri"/>
              </a:rPr>
              <a:t>Quoting SaaS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emalatxana proqramı
(QUOTEFLOW)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2286000"/>
            <a:ext cx="2651760" cy="1828800"/>
          </a:xfrm>
          <a:prstGeom prst="rect">
            <a:avLst/>
          </a:prstGeom>
          <a:solidFill>
            <a:srgbClr val="171A1E"/>
          </a:solidFill>
          <a:ln w="12700">
            <a:solidFill>
              <a:srgbClr val="57C9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57C98A"/>
                </a:solidFill>
                <a:latin typeface="Calibri"/>
              </a:rPr>
              <a:t>DFM / CAD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mühəndis alətləri
(FORMCHECK)</a:t>
            </a:r>
          </a:p>
        </p:txBody>
      </p:sp>
      <p:sp>
        <p:nvSpPr>
          <p:cNvPr id="9" name="Rectangle 8"/>
          <p:cNvSpPr/>
          <p:nvPr/>
        </p:nvSpPr>
        <p:spPr>
          <a:xfrm>
            <a:off x="9326880" y="2286000"/>
            <a:ext cx="2286000" cy="1828800"/>
          </a:xfrm>
          <a:prstGeom prst="rect">
            <a:avLst/>
          </a:prstGeom>
          <a:solidFill>
            <a:srgbClr val="171A1E"/>
          </a:solidFill>
          <a:ln w="12700">
            <a:solidFill>
              <a:srgbClr val="B97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B97DF0"/>
                </a:solidFill>
                <a:latin typeface="Calibri"/>
              </a:rPr>
              <a:t>E-com CPQ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konfiqurator
(CONFIGFLOW)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480560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ECEAE5"/>
                </a:solidFill>
                <a:latin typeface="Calibri"/>
              </a:rPr>
              <a:t>Hamısı böyüyən rəqəmsal istehsal trendinin içində · bitişik = eyni alıcı, eyni kanal, çarpaz satış.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MALİYYƏ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Birləşmiş portfel — 18 / 36 / 48 ay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011680"/>
            <a:ext cx="3383280" cy="1371600"/>
          </a:xfrm>
          <a:prstGeom prst="rect">
            <a:avLst/>
          </a:prstGeom>
          <a:solidFill>
            <a:srgbClr val="171A1E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FFB300"/>
                </a:solidFill>
                <a:latin typeface="Calibri"/>
              </a:rPr>
              <a:t>$33K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18 ay — aylıq gəlir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4840" y="2011680"/>
            <a:ext cx="3383280" cy="1371600"/>
          </a:xfrm>
          <a:prstGeom prst="rect">
            <a:avLst/>
          </a:prstGeom>
          <a:solidFill>
            <a:srgbClr val="171A1E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FFB300"/>
                </a:solidFill>
                <a:latin typeface="Calibri"/>
              </a:rPr>
              <a:t>$255K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36 ay — aylıq gəlir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2011680"/>
            <a:ext cx="3291840" cy="1371600"/>
          </a:xfrm>
          <a:prstGeom prst="rect">
            <a:avLst/>
          </a:prstGeom>
          <a:solidFill>
            <a:srgbClr val="171A1E"/>
          </a:solidFill>
          <a:ln w="12700">
            <a:solidFill>
              <a:srgbClr val="57C9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57C98A"/>
                </a:solidFill>
                <a:latin typeface="Calibri"/>
              </a:rPr>
              <a:t>$830K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48 ay — aylıq gəlir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520440"/>
            <a:ext cx="3383280" cy="1371600"/>
          </a:xfrm>
          <a:prstGeom prst="rect">
            <a:avLst/>
          </a:prstGeom>
          <a:solidFill>
            <a:srgbClr val="171A1E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FFB300"/>
                </a:solidFill>
                <a:latin typeface="Calibri"/>
              </a:rPr>
              <a:t>$393K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18 ay — ARR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3520440"/>
            <a:ext cx="3383280" cy="1371600"/>
          </a:xfrm>
          <a:prstGeom prst="rect">
            <a:avLst/>
          </a:prstGeom>
          <a:solidFill>
            <a:srgbClr val="171A1E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FFB300"/>
                </a:solidFill>
                <a:latin typeface="Calibri"/>
              </a:rPr>
              <a:t>$3.06M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36 ay — ARR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3520440"/>
            <a:ext cx="3291840" cy="1371600"/>
          </a:xfrm>
          <a:prstGeom prst="rect">
            <a:avLst/>
          </a:prstGeom>
          <a:solidFill>
            <a:srgbClr val="171A1E"/>
          </a:solidFill>
          <a:ln w="12700">
            <a:solidFill>
              <a:srgbClr val="57C9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57C98A"/>
                </a:solidFill>
                <a:latin typeface="Calibri"/>
              </a:rPr>
              <a:t>$9.96M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48 ay — ARR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12064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ECEAE5"/>
                </a:solidFill>
                <a:latin typeface="Calibri"/>
              </a:rPr>
              <a:t>İl gəlir: İl1 $51K · İl2 $457K · İl3 $1.83M · İl4 $6.15M   |   Breakeven ≈ Ay 28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9A9EA4"/>
                </a:solidFill>
                <a:latin typeface="Calibri"/>
              </a:rPr>
              <a:t>İl 4 NET $3.22M · 4 məhsulun hamısı canlı · komanda 28 nəfər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İNVESTİSİYA TƏLƏBİ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Tələb: $1.80M seed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83280" cy="1554480"/>
          </a:xfrm>
          <a:prstGeom prst="rect">
            <a:avLst/>
          </a:prstGeom>
          <a:solidFill>
            <a:srgbClr val="171A1E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FFB300"/>
                </a:solidFill>
                <a:latin typeface="Calibri"/>
              </a:rPr>
              <a:t>$1.80M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Bütün portfel üçün seed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4840" y="2103120"/>
            <a:ext cx="3383280" cy="1554480"/>
          </a:xfrm>
          <a:prstGeom prst="rect">
            <a:avLst/>
          </a:prstGeom>
          <a:solidFill>
            <a:srgbClr val="171A1E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FFB300"/>
                </a:solidFill>
                <a:latin typeface="Calibri"/>
              </a:rPr>
              <a:t>~976K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Real funding need (dib)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2103120"/>
            <a:ext cx="3291840" cy="1554480"/>
          </a:xfrm>
          <a:prstGeom prst="rect">
            <a:avLst/>
          </a:prstGeom>
          <a:solidFill>
            <a:srgbClr val="171A1E"/>
          </a:solidFill>
          <a:ln w="12700">
            <a:solidFill>
              <a:srgbClr val="57C9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57C98A"/>
                </a:solidFill>
                <a:latin typeface="Calibri"/>
              </a:rPr>
              <a:t>$9.96M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48 ay ARR hədəfi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31920"/>
            <a:ext cx="10881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0" i="0">
                <a:solidFill>
                  <a:srgbClr val="ECEAE5"/>
                </a:solidFill>
                <a:latin typeface="Calibri"/>
              </a:rPr>
              <a:t>•  İstifadə: komanda ~60% · məhsul/infra ~12% · marketinq (4 GTM) ~20% · inzibati ~8%</a:t>
            </a:r>
          </a:p>
          <a:p>
            <a:pPr algn="l">
              <a:spcAft>
                <a:spcPts val="900"/>
              </a:spcAft>
            </a:pPr>
            <a:r>
              <a:rPr sz="1600" b="0" i="0">
                <a:solidFill>
                  <a:srgbClr val="ECEAE5"/>
                </a:solidFill>
                <a:latin typeface="Calibri"/>
              </a:rPr>
              <a:t>•  FEEDRATE ilk 5 ay köklü quruluş, Ay 6 launch — sonra hər məhsul ardıcıl maliyyələşir</a:t>
            </a:r>
          </a:p>
          <a:p>
            <a:pPr algn="l">
              <a:spcAft>
                <a:spcPts val="900"/>
              </a:spcAft>
            </a:pPr>
            <a:r>
              <a:rPr sz="1600" b="1" i="0">
                <a:solidFill>
                  <a:srgbClr val="57C98A"/>
                </a:solidFill>
                <a:latin typeface="Calibri"/>
              </a:rPr>
              <a:t>Plan: 4 məhsul, $9.96M birləşmiş ARR, İl 4 mənfəətli, ~28 nəfərlə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KOMANDA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Senior nüvə, məhsuldan-məhsula axır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88136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Nüvə (Ay 1): CEO + CTO/Baş arxitekt + Senior CAD + Senior Frontend — paylaşılan platforma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Hər məhsul üçün 1 product/FS lead + 1 dev + 1 growth əlavə olunur (nüvəyə söykənir)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Paylaşılan: CFO, marketinq lead, DevOps, QA, dəstək, sales — bir dəfə, hamı üçün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9A9EA4"/>
                </a:solidFill>
                <a:latin typeface="Calibri"/>
              </a:rPr>
              <a:t>•  48 ayın sonunda 28 nəfər · remote-first · Azərbaycan bazlı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607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Bir komanda. Bir nüvə. Dörd bazar.</a:t>
            </a:r>
          </a:p>
          <a:p>
            <a:pPr algn="l">
              <a:spcAft>
                <a:spcPts val="2200"/>
              </a:spcAft>
            </a:pPr>
            <a:r>
              <a:rPr sz="2000" b="0" i="0">
                <a:solidFill>
                  <a:srgbClr val="FFB300"/>
                </a:solidFill>
                <a:latin typeface="Calibri"/>
              </a:rPr>
              <a:t>KAYZEN — istehsal-texnologiyasını bir-bir fəth edən şirkət.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9A9EA4"/>
                </a:solidFill>
                <a:latin typeface="Calibri"/>
              </a:rPr>
              <a:t>Kayzen · support@kayzen.az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