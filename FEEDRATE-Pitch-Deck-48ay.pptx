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FEEDRATE</a:t>
            </a:r>
          </a:p>
          <a:p>
            <a:pPr algn="l">
              <a:spcAft>
                <a:spcPts val="1800"/>
              </a:spcAft>
            </a:pPr>
            <a:r>
              <a:rPr sz="2200" b="0" i="0">
                <a:solidFill>
                  <a:srgbClr val="FFB300"/>
                </a:solidFill>
                <a:latin typeface="Calibri"/>
              </a:rPr>
              <a:t>CNC frezeleme &amp; 3D-çap üçün anında qiymət → sifariş → istehsal → çatdırılma platforması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9A9EA4"/>
                </a:solidFill>
                <a:latin typeface="Calibri"/>
              </a:rPr>
              <a:t>Self-serve · brauzer CAD · supplier şəbəkəsi · marketplace · orta bazardan yuxarıya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9A9EA4"/>
                </a:solidFill>
                <a:latin typeface="Calibri"/>
              </a:rPr>
              <a:t>İnvestor təqdimatı  ·  Kayzen  ·  support@kayzen.az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B300"/>
                </a:solidFill>
                <a:latin typeface="Calibri"/>
              </a:rP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Hissə istehsal etdirmək yavaş, bahalı və qırıqdır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789920" cy="448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CNC/3D sifarişdə qiymət almaq günlər çəkir — email, gözləmə, geriyə-irəli yazışma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Mövcud iri platformalar yalnız böyük sifarişlərə baxır — minimum həcm, sales-led satış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Kiçik biznes, mühəndis, startap, maker — sürətli, sərfəli, self-serve həll tapmır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Qiymət ayrı, CAD ayrı, sifariş ayrı, emalatxana ayrı — vahid axın yoxdur</a:t>
            </a:r>
          </a:p>
          <a:p>
            <a:pPr algn="l">
              <a:spcAft>
                <a:spcPts val="900"/>
              </a:spcAft>
            </a:pPr>
            <a:r>
              <a:rPr sz="1800" b="1" i="0">
                <a:solidFill>
                  <a:srgbClr val="FFB300"/>
                </a:solidFill>
                <a:latin typeface="Calibri"/>
              </a:rPr>
              <a:t>Nəticə: orta bazar xidmətsiz qalır — bizim fürsətimiz məhz buradadır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B300"/>
                </a:solidFill>
                <a:latin typeface="Calibri"/>
              </a:rPr>
              <a:t>HƏLL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Fayldan hazır hissəyə — bir platformada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789920" cy="448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Anında qiymət: model yüklə / kitabxanadan seç / brauzer CAD-da qur → saniyələrlə qiymət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Tək kliklə sifariş + ödəniş — minimum həcm yoxdur, yazışma yoxdur, gözləmə yoxdur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Supplier şəbəkəsi: sifariş ən uyğun emalatxanaya yönlənir, hazırlanır, çatdırılır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Biz istehsalı etmirik — qiymət, ödəniş, marşrutlaşdırma, keyfiyyəti idarə edirik (yüngül model)</a:t>
            </a:r>
          </a:p>
          <a:p>
            <a:pPr algn="l">
              <a:spcAft>
                <a:spcPts val="900"/>
              </a:spcAft>
            </a:pPr>
            <a:r>
              <a:rPr sz="1800" b="1" i="0">
                <a:solidFill>
                  <a:srgbClr val="57C98A"/>
                </a:solidFill>
                <a:latin typeface="Calibri"/>
              </a:rPr>
              <a:t>Üstəlik: dizayn marketplace — istifadəçilər öz modellərini satır, biz komissiya alırıq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B300"/>
                </a:solidFill>
                <a:latin typeface="Calibri"/>
              </a:rPr>
              <a:t>NECƏ İŞLƏYİR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Qiymətdən çatdırılmaya — 7 addım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607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900" b="0" i="0">
                <a:solidFill>
                  <a:srgbClr val="ECEAE5"/>
                </a:solidFill>
                <a:latin typeface="Calibri"/>
              </a:rPr>
              <a:t>1 · Model (yüklə / seç / CAD-da qur)</a:t>
            </a:r>
          </a:p>
          <a:p>
            <a:pPr algn="l">
              <a:spcAft>
                <a:spcPts val="1100"/>
              </a:spcAft>
            </a:pPr>
            <a:r>
              <a:rPr sz="1900" b="0" i="0">
                <a:solidFill>
                  <a:srgbClr val="FFB300"/>
                </a:solidFill>
                <a:latin typeface="Calibri"/>
              </a:rPr>
              <a:t>2 · Anında qiymət</a:t>
            </a:r>
          </a:p>
          <a:p>
            <a:pPr algn="l">
              <a:spcAft>
                <a:spcPts val="1100"/>
              </a:spcAft>
            </a:pPr>
            <a:r>
              <a:rPr sz="1900" b="1" i="0">
                <a:solidFill>
                  <a:srgbClr val="ECEAE5"/>
                </a:solidFill>
                <a:latin typeface="Calibri"/>
              </a:rPr>
              <a:t>3 · Sifariş + ödəniş</a:t>
            </a:r>
          </a:p>
          <a:p>
            <a:pPr algn="l">
              <a:spcAft>
                <a:spcPts val="1100"/>
              </a:spcAft>
            </a:pPr>
            <a:r>
              <a:rPr sz="1900" b="0" i="0">
                <a:solidFill>
                  <a:srgbClr val="ECEAE5"/>
                </a:solidFill>
                <a:latin typeface="Calibri"/>
              </a:rPr>
              <a:t>4 · Supplier-ə marşrutlaşdırma</a:t>
            </a:r>
          </a:p>
          <a:p>
            <a:pPr algn="l">
              <a:spcAft>
                <a:spcPts val="1100"/>
              </a:spcAft>
            </a:pPr>
            <a:r>
              <a:rPr sz="1900" b="0" i="0">
                <a:solidFill>
                  <a:srgbClr val="ECEAE5"/>
                </a:solidFill>
                <a:latin typeface="Calibri"/>
              </a:rPr>
              <a:t>5 · İstehsal (CNC/3D-print)</a:t>
            </a:r>
          </a:p>
          <a:p>
            <a:pPr algn="l">
              <a:spcAft>
                <a:spcPts val="1100"/>
              </a:spcAft>
            </a:pPr>
            <a:r>
              <a:rPr sz="1900" b="0" i="0">
                <a:solidFill>
                  <a:srgbClr val="ECEAE5"/>
                </a:solidFill>
                <a:latin typeface="Calibri"/>
              </a:rPr>
              <a:t>6 · Keyfiyyət + çatdırılma</a:t>
            </a:r>
          </a:p>
          <a:p>
            <a:pPr algn="l">
              <a:spcAft>
                <a:spcPts val="1100"/>
              </a:spcAft>
            </a:pPr>
            <a:r>
              <a:rPr sz="1900" b="1" i="0">
                <a:solidFill>
                  <a:srgbClr val="FFB300"/>
                </a:solidFill>
                <a:latin typeface="Calibri"/>
              </a:rPr>
              <a:t>7 · Supplier payout · biz marja saxlayırıq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46C9C1"/>
                </a:solidFill>
                <a:latin typeface="Calibri"/>
              </a:rPr>
              <a:t>İstehsalı biz etmirik — qiymət, ödəniş, marşrutlaşdırma və keyfiyyəti biz idarə edirik.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B300"/>
                </a:solidFill>
                <a:latin typeface="Calibri"/>
              </a:rPr>
              <a:t>MƏHSUL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Üç modul, bir axın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789920" cy="448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3D model kitabxanası — hazır parametrik modellər, ölçü qoy → qiymət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Brauzer CAD redaktoru (Three.js + CSG) — quraşdırma yox, anlıq qiymət, STL/OBJ/STEP export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İstehsal marketplace — sifariş → supplier → keyfiyyət → çatdırılma + payout (Stripe Connect)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Dizayn marketplace — listing, alış, komissiya, payout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9A9EA4"/>
                </a:solidFill>
                <a:latin typeface="Calibri"/>
              </a:rPr>
              <a:t>•  Limit/anti-abuse: anonim 1 qiymət → pulsuz hesab 5/ay → ödənişli paketlər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B300"/>
                </a:solidFill>
                <a:latin typeface="Calibri"/>
              </a:rPr>
              <a:t>BAZAR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Böyüyən on-demand istehsal bazarı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94560"/>
            <a:ext cx="3383280" cy="1828800"/>
          </a:xfrm>
          <a:prstGeom prst="rect">
            <a:avLst/>
          </a:prstGeom>
          <a:solidFill>
            <a:srgbClr val="171A1E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800" b="1" i="0">
                <a:solidFill>
                  <a:srgbClr val="FFB300"/>
                </a:solidFill>
                <a:latin typeface="Calibri"/>
              </a:rPr>
              <a:t>TAM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9EA4"/>
                </a:solidFill>
                <a:latin typeface="Calibri"/>
              </a:rPr>
              <a:t>Qlobal rəqəmsal istehsal —
onlarla milyard $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2194560"/>
            <a:ext cx="3383280" cy="1828800"/>
          </a:xfrm>
          <a:prstGeom prst="rect">
            <a:avLst/>
          </a:prstGeom>
          <a:solidFill>
            <a:srgbClr val="171A1E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800" b="1" i="0">
                <a:solidFill>
                  <a:srgbClr val="FFB300"/>
                </a:solidFill>
                <a:latin typeface="Calibri"/>
              </a:rPr>
              <a:t>SAM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9EA4"/>
                </a:solidFill>
                <a:latin typeface="Calibri"/>
              </a:rPr>
              <a:t>Self-serve instant-quote +
onlayn CAD istifadəçiləri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2194560"/>
            <a:ext cx="3291840" cy="1828800"/>
          </a:xfrm>
          <a:prstGeom prst="rect">
            <a:avLst/>
          </a:prstGeom>
          <a:solidFill>
            <a:srgbClr val="171A1E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800" b="1" i="0">
                <a:solidFill>
                  <a:srgbClr val="57C98A"/>
                </a:solidFill>
                <a:latin typeface="Calibri"/>
              </a:rPr>
              <a:t>SOM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9EA4"/>
                </a:solidFill>
                <a:latin typeface="Calibri"/>
              </a:rPr>
              <a:t>4 ildə aylıq 300K+ ziyarətçi,
5700+ sifariş/ay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80560"/>
            <a:ext cx="10607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ECEAE5"/>
                </a:solidFill>
                <a:latin typeface="Calibri"/>
              </a:rPr>
              <a:t>Trendlər: distributed manufacturing, 3D-print bumu, brauzer/no-code alətlər, qısa tədarük zənciri.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B300"/>
                </a:solidFill>
                <a:latin typeface="Calibri"/>
              </a:rPr>
              <a:t>Giriş nöqtəsi: anonim 1 pulsuz qiymət = viral, sürtünməsiz cəlb.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B300"/>
                </a:solidFill>
                <a:latin typeface="Calibri"/>
              </a:rPr>
              <a:t>BİZNES MODELİ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3 gəlir mənbəyi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94560"/>
            <a:ext cx="3383280" cy="2103120"/>
          </a:xfrm>
          <a:prstGeom prst="rect">
            <a:avLst/>
          </a:prstGeom>
          <a:solidFill>
            <a:srgbClr val="171A1E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800" b="1" i="0">
                <a:solidFill>
                  <a:srgbClr val="FFB300"/>
                </a:solidFill>
                <a:latin typeface="Calibri"/>
              </a:rPr>
              <a:t>~22%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9EA4"/>
                </a:solidFill>
                <a:latin typeface="Calibri"/>
              </a:rPr>
              <a:t>İSTEHSAL MARJASI (əsas)
hər sifariş GMV-dən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2194560"/>
            <a:ext cx="3383280" cy="2103120"/>
          </a:xfrm>
          <a:prstGeom prst="rect">
            <a:avLst/>
          </a:prstGeom>
          <a:solidFill>
            <a:srgbClr val="171A1E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800" b="1" i="0">
                <a:solidFill>
                  <a:srgbClr val="FFB300"/>
                </a:solidFill>
                <a:latin typeface="Calibri"/>
              </a:rPr>
              <a:t>$9–$99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9EA4"/>
                </a:solidFill>
                <a:latin typeface="Calibri"/>
              </a:rPr>
              <a:t>ABUNƏ (SaaS)
CAD + qiymət alətləri / ay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2194560"/>
            <a:ext cx="3291840" cy="2103120"/>
          </a:xfrm>
          <a:prstGeom prst="rect">
            <a:avLst/>
          </a:prstGeom>
          <a:solidFill>
            <a:srgbClr val="171A1E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800" b="1" i="0">
                <a:solidFill>
                  <a:srgbClr val="FFB300"/>
                </a:solidFill>
                <a:latin typeface="Calibri"/>
              </a:rPr>
              <a:t>~8%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9EA4"/>
                </a:solidFill>
                <a:latin typeface="Calibri"/>
              </a:rPr>
              <a:t>DİZAYN KOMİSSİYA
marketplace satışından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63440"/>
            <a:ext cx="10607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ECEAE5"/>
                </a:solidFill>
                <a:latin typeface="Calibri"/>
              </a:rPr>
              <a:t>İstehsal: ödənişi biz toplayırıq, supplier-ə payout edirik, marjanı saxlayırıq.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7C98A"/>
                </a:solidFill>
                <a:latin typeface="Calibri"/>
              </a:rPr>
              <a:t>Üç axın = həcmlə böyüyən marja + təkrar MRR + iki tərəfli marketplace effekti.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B300"/>
                </a:solidFill>
                <a:latin typeface="Calibri"/>
              </a:rPr>
              <a:t>SUPPLIER ŞƏBƏKƏSİ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İstehsalsız, lakin tam nəzarətli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789920" cy="448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Yoxlanmış CNC/3D-print emalatxanaları şəbəkəsi — biz onlara sifariş gətiririk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Marşrutlaşdırma: hər sifariş qiymət/məkan/imkana görə ən uyğun supplier-ə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Keyfiyyət standartı, izləmə və reytinq — zəif supplier sistemdən çıxır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Bizdə əsas vəsait (avadanlıq) yoxdur → yüngül, sürətli miqyaslana bilən model</a:t>
            </a:r>
          </a:p>
          <a:p>
            <a:pPr algn="l">
              <a:spcAft>
                <a:spcPts val="900"/>
              </a:spcAft>
            </a:pPr>
            <a:r>
              <a:rPr sz="1800" b="1" i="0">
                <a:solidFill>
                  <a:srgbClr val="57C98A"/>
                </a:solidFill>
                <a:latin typeface="Calibri"/>
              </a:rPr>
              <a:t>Çox supplier = aşağı qiymət, sürətli çatdırılma, regional əhatə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B300"/>
                </a:solidFill>
                <a:latin typeface="Calibri"/>
              </a:rPr>
              <a:t>QİYMƏT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Freemium → ödənişli paketlər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789920" cy="448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Free $0 — 5 hesablama / 5 yükləmə, məhdud CAD, sifariş icazəli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Starter $9 — 50 hesablama / 25 yükləmə, tam CAD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Pro $29 — limitsiz hesablama / 100 yükləmə, brendli PDF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Business $99 — limitsiz, API/komanda, prioritet supplier &amp; dəstək (yuxarı bazar)</a:t>
            </a:r>
          </a:p>
          <a:p>
            <a:pPr algn="l">
              <a:spcAft>
                <a:spcPts val="900"/>
              </a:spcAft>
            </a:pPr>
            <a:r>
              <a:rPr sz="1800" b="1" i="0">
                <a:solidFill>
                  <a:srgbClr val="FFB300"/>
                </a:solidFill>
                <a:latin typeface="Calibri"/>
              </a:rPr>
              <a:t>Blended ARPU ~$26/ay · istehsal sifarişləri paketdən asılı deyil — hamı sifariş verə bilər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B300"/>
                </a:solidFill>
                <a:latin typeface="Calibri"/>
              </a:rPr>
              <a:t>RƏQABƏT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Rəqiblər kimdir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789920" cy="448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Xometry / Protolabs — instant-quote var, AMMA enterprise/yüksək bazar, sales-led, minimum həcm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Protolabs öz zavodları ilə premium qiymət — kiçik/orta sifarişçi üçün baha və əlçatmaz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Thangs / Thingiverse — model var, qiymət/sifariş yox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Onshape / Tinkercad — CAD var, qiymət + istehsal + marketplace yox</a:t>
            </a:r>
          </a:p>
          <a:p>
            <a:pPr algn="l">
              <a:spcAft>
                <a:spcPts val="900"/>
              </a:spcAft>
            </a:pPr>
            <a:r>
              <a:rPr sz="1800" b="1" i="0">
                <a:solidFill>
                  <a:srgbClr val="FFB300"/>
                </a:solidFill>
                <a:latin typeface="Calibri"/>
              </a:rPr>
              <a:t>Heç biri orta bazara self-serve, hamısını-bir-yerdə həll vermir — boşluq buradadır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B300"/>
                </a:solidFill>
                <a:latin typeface="Calibri"/>
              </a:rPr>
              <a:t>MÖVQELƏŞMƏ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Niyə orta bazar? — aşağıdan yuxarıya disrupsiya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789920" cy="448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Rəqiblər yüksək/enterprise bazara fokuslanır — iri müştəri, böyük marja, sales komandası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Orta bazar (kiçik biznes, mühəndis, startap, hardware maker, tələbə) onlar üçün «kiçik»dir — xidmətsiz qalır</a:t>
            </a:r>
          </a:p>
          <a:p>
            <a:pPr algn="l">
              <a:spcAft>
                <a:spcPts val="900"/>
              </a:spcAft>
            </a:pPr>
            <a:r>
              <a:rPr sz="1800" b="1" i="0">
                <a:solidFill>
                  <a:srgbClr val="FFB300"/>
                </a:solidFill>
                <a:latin typeface="Calibri"/>
              </a:rPr>
              <a:t>Bu seqment böyükdür, sürətli böyüyür və self-serve istəyir — bizim giriş nöqtəmiz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Strategiya: orta bazarı self-serve ilə tut → həcm və data qazan → Business/API ilə yuxarı bazara çıx</a:t>
            </a:r>
          </a:p>
          <a:p>
            <a:pPr algn="l">
              <a:spcAft>
                <a:spcPts val="900"/>
              </a:spcAft>
            </a:pPr>
            <a:r>
              <a:rPr sz="1800" b="1" i="0">
                <a:solidFill>
                  <a:srgbClr val="57C98A"/>
                </a:solidFill>
                <a:latin typeface="Calibri"/>
              </a:rPr>
              <a:t>Klassik «disruption from below»: əvvəl çatışmayan seqment, sonra premium müştəriyə doğru hərəkət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Aşağı sürtünmə + minimum həcm yoxdur = rəqiblərin əlçatmaz olduğu kütləvi tələbi açırıq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B300"/>
                </a:solidFill>
                <a:latin typeface="Calibri"/>
              </a:rPr>
              <a:t>FƏRQLƏNMƏ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Bizdə var — rəqiblərdə yox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874519"/>
          <a:ext cx="1088136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286000"/>
                <a:gridCol w="2651760"/>
                <a:gridCol w="2286000"/>
              </a:tblGrid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D0E10"/>
                          </a:solidFill>
                          <a:latin typeface="Calibri"/>
                        </a:rPr>
                        <a:t>Funksiya</a:t>
                      </a:r>
                    </a:p>
                  </a:txBody>
                  <a:tcPr marT="25400" marB="25400" anchor="ctr">
                    <a:solidFill>
                      <a:srgbClr val="FFB3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D0E10"/>
                          </a:solidFill>
                          <a:latin typeface="Calibri"/>
                        </a:rPr>
                        <a:t>FEEDRATE</a:t>
                      </a:r>
                    </a:p>
                  </a:txBody>
                  <a:tcPr marT="25400" marB="25400" anchor="ctr">
                    <a:solidFill>
                      <a:srgbClr val="FFB3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D0E10"/>
                          </a:solidFill>
                          <a:latin typeface="Calibri"/>
                        </a:rPr>
                        <a:t>Xometry / Protolabs</a:t>
                      </a:r>
                    </a:p>
                  </a:txBody>
                  <a:tcPr marT="25400" marB="25400" anchor="ctr">
                    <a:solidFill>
                      <a:srgbClr val="FFB3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D0E10"/>
                          </a:solidFill>
                          <a:latin typeface="Calibri"/>
                        </a:rPr>
                        <a:t>Onshape / Thingiverse</a:t>
                      </a:r>
                    </a:p>
                  </a:txBody>
                  <a:tcPr marT="25400" marB="25400" anchor="ctr">
                    <a:solidFill>
                      <a:srgbClr val="FFB300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ECEAE5"/>
                          </a:solidFill>
                          <a:latin typeface="Calibri"/>
                        </a:rPr>
                        <a:t>Self-serve anında qiymət</a:t>
                      </a:r>
                    </a:p>
                  </a:txBody>
                  <a:tcPr marT="25400" marB="25400" anchor="ctr">
                    <a:solidFill>
                      <a:srgbClr val="17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57C98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anchor="ctr">
                    <a:solidFill>
                      <a:srgbClr val="17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ECEAE5"/>
                          </a:solidFill>
                          <a:latin typeface="Calibri"/>
                        </a:rPr>
                        <a:t>Qismən (iri/B2B)</a:t>
                      </a:r>
                    </a:p>
                  </a:txBody>
                  <a:tcPr marT="25400" marB="25400" anchor="ctr">
                    <a:solidFill>
                      <a:srgbClr val="17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anchor="ctr">
                    <a:solidFill>
                      <a:srgbClr val="171A1E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ECEAE5"/>
                          </a:solidFill>
                          <a:latin typeface="Calibri"/>
                        </a:rPr>
                        <a:t>Brauzer CAD (quraşdırmasız)</a:t>
                      </a:r>
                    </a:p>
                  </a:txBody>
                  <a:tcPr marT="25400" marB="25400" anchor="ctr">
                    <a:solidFill>
                      <a:srgbClr val="2024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57C98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anchor="ctr">
                    <a:solidFill>
                      <a:srgbClr val="2024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anchor="ctr">
                    <a:solidFill>
                      <a:srgbClr val="2024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ECEAE5"/>
                          </a:solidFill>
                          <a:latin typeface="Calibri"/>
                        </a:rPr>
                        <a:t>Qismən (yalnız CAD)</a:t>
                      </a:r>
                    </a:p>
                  </a:txBody>
                  <a:tcPr marT="25400" marB="25400" anchor="ctr">
                    <a:solidFill>
                      <a:srgbClr val="202428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ECEAE5"/>
                          </a:solidFill>
                          <a:latin typeface="Calibri"/>
                        </a:rPr>
                        <a:t>Sifariş → supplier istehsal</a:t>
                      </a:r>
                    </a:p>
                  </a:txBody>
                  <a:tcPr marT="25400" marB="25400" anchor="ctr">
                    <a:solidFill>
                      <a:srgbClr val="17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57C98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anchor="ctr">
                    <a:solidFill>
                      <a:srgbClr val="17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ECEAE5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anchor="ctr">
                    <a:solidFill>
                      <a:srgbClr val="17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anchor="ctr">
                    <a:solidFill>
                      <a:srgbClr val="171A1E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ECEAE5"/>
                          </a:solidFill>
                          <a:latin typeface="Calibri"/>
                        </a:rPr>
                        <a:t>Minimum həcm YOXDUR</a:t>
                      </a:r>
                    </a:p>
                  </a:txBody>
                  <a:tcPr marT="25400" marB="25400" anchor="ctr">
                    <a:solidFill>
                      <a:srgbClr val="2024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57C98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anchor="ctr">
                    <a:solidFill>
                      <a:srgbClr val="2024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anchor="ctr">
                    <a:solidFill>
                      <a:srgbClr val="2024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ECEAE5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5400" marB="25400" anchor="ctr">
                    <a:solidFill>
                      <a:srgbClr val="202428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ECEAE5"/>
                          </a:solidFill>
                          <a:latin typeface="Calibri"/>
                        </a:rPr>
                        <a:t>Dizayn marketplace</a:t>
                      </a:r>
                    </a:p>
                  </a:txBody>
                  <a:tcPr marT="25400" marB="25400" anchor="ctr">
                    <a:solidFill>
                      <a:srgbClr val="17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57C98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anchor="ctr">
                    <a:solidFill>
                      <a:srgbClr val="17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anchor="ctr">
                    <a:solidFill>
                      <a:srgbClr val="17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ECEAE5"/>
                          </a:solidFill>
                          <a:latin typeface="Calibri"/>
                        </a:rPr>
                        <a:t>Qismən</a:t>
                      </a:r>
                    </a:p>
                  </a:txBody>
                  <a:tcPr marT="25400" marB="25400" anchor="ctr">
                    <a:solidFill>
                      <a:srgbClr val="171A1E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ECEAE5"/>
                          </a:solidFill>
                          <a:latin typeface="Calibri"/>
                        </a:rPr>
                        <a:t>Hamısı bir platformada</a:t>
                      </a:r>
                    </a:p>
                  </a:txBody>
                  <a:tcPr marT="25400" marB="25400" anchor="ctr">
                    <a:solidFill>
                      <a:srgbClr val="2024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57C98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anchor="ctr">
                    <a:solidFill>
                      <a:srgbClr val="2024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anchor="ctr">
                    <a:solidFill>
                      <a:srgbClr val="2024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anchor="ctr">
                    <a:solidFill>
                      <a:srgbClr val="202428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ECEAE5"/>
                          </a:solidFill>
                          <a:latin typeface="Calibri"/>
                        </a:rPr>
                        <a:t>Orta bazara fokus</a:t>
                      </a:r>
                    </a:p>
                  </a:txBody>
                  <a:tcPr marT="25400" marB="25400" anchor="ctr">
                    <a:solidFill>
                      <a:srgbClr val="17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57C98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anchor="ctr">
                    <a:solidFill>
                      <a:srgbClr val="17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ECEAE5"/>
                          </a:solidFill>
                          <a:latin typeface="Calibri"/>
                        </a:rPr>
                        <a:t>✗ (enterprise)</a:t>
                      </a:r>
                    </a:p>
                  </a:txBody>
                  <a:tcPr marT="25400" marB="25400" anchor="ctr">
                    <a:solidFill>
                      <a:srgbClr val="171A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ECEAE5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5400" marB="25400" anchor="ctr">
                    <a:solidFill>
                      <a:srgbClr val="171A1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B300"/>
                </a:solidFill>
                <a:latin typeface="Calibri"/>
              </a:rPr>
              <a:t>GET-TO-MARKET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Necə böyüyəcəyik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789920" cy="448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SEO + kontent (CNC/3D-print qiymət açar sözləri) — anonim 1 pulsuz qiymət viral giriş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Performans reklam + maker icmaları: Reddit, Discord, YouTube, mühəndis forumları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Marketplace satıcıları öz auditoriyasını gətirir — iki tərəfli böyümə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Supplier tərəfdaşlıqları → coğrafi genişlənmə</a:t>
            </a:r>
          </a:p>
          <a:p>
            <a:pPr algn="l">
              <a:spcAft>
                <a:spcPts val="900"/>
              </a:spcAft>
            </a:pPr>
            <a:r>
              <a:rPr sz="1800" b="1" i="0">
                <a:solidFill>
                  <a:srgbClr val="FFB300"/>
                </a:solidFill>
                <a:latin typeface="Calibri"/>
              </a:rPr>
              <a:t>Güclü launch kampaniyası (premium büdcə) + daimi CAC/LTV optimallaşdırması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B300"/>
                </a:solidFill>
                <a:latin typeface="Calibri"/>
              </a:rPr>
              <a:t>YOL XƏRİTƏSİ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İlk aydan işlək MVP və gəlir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789920" cy="448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1" i="0">
                <a:solidFill>
                  <a:srgbClr val="FFB300"/>
                </a:solidFill>
                <a:latin typeface="Calibri"/>
              </a:rPr>
              <a:t>Ay 1: İşlək MVP launch — ilk sifarişlər, gəlir başlayır ($10K/ay reklam, 18 nəfərlik komanda)</a:t>
            </a:r>
          </a:p>
          <a:p>
            <a:pPr algn="l">
              <a:spcAft>
                <a:spcPts val="900"/>
              </a:spcAft>
            </a:pPr>
            <a:r>
              <a:rPr sz="1800" b="1" i="0">
                <a:solidFill>
                  <a:srgbClr val="57C98A"/>
                </a:solidFill>
                <a:latin typeface="Calibri"/>
              </a:rPr>
              <a:t>Ay 1–3: Tam funksiyalar — escrow, supplier marşrutlaşdırma, cilalama (paralel, gəlir artır)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Ay 3–10: Brauzer CAD v1, marketplace, tam sifariş→çatdırılma dövrü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Ay 14–24: Orta bazarda böyümə, supplier şəbəkəsinin genişlənməsi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Ay 24–36: Business/API ilə yuxarı bazara çıxış, STEP export, beynəlxalq genişlənmə, mənfəət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B300"/>
                </a:solidFill>
                <a:latin typeface="Calibri"/>
              </a:rPr>
              <a:t>KOMANDA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18 nəfərlik intensiv build komandası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789920" cy="448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Ay 1 nüvə: CEO + CTO + HR + 2 Senior CAD + Frontend + Backend + UI/UX + DevOps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Ay 2 tamamlanma: +Frontend, +Backend, +UI/UX, 2 QA, CAD QA, Dizayn QA, Ops, Marketinq (18 nəfər)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Ay 6–12: 3D kontent, CFO, Sales/BizDev, Müştəri dəstəyi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Ay 22–30: əlavə dəstək və developer (miqyas)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9A9EA4"/>
                </a:solidFill>
                <a:latin typeface="Calibri"/>
              </a:rPr>
              <a:t>•  36 ayın sonunda 24 nəfərlik güclü komanda · remote-first · Azərbaycan bazlı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B300"/>
                </a:solidFill>
                <a:latin typeface="Calibri"/>
              </a:rPr>
              <a:t>MALİYYƏ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Harda olacağıq — 18, 36, 48 ay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83280" cy="1417320"/>
          </a:xfrm>
          <a:prstGeom prst="rect">
            <a:avLst/>
          </a:prstGeom>
          <a:solidFill>
            <a:srgbClr val="171A1E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800" b="1" i="0">
                <a:solidFill>
                  <a:srgbClr val="FFB300"/>
                </a:solidFill>
                <a:latin typeface="Calibri"/>
              </a:rPr>
              <a:t>$39K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9EA4"/>
                </a:solidFill>
                <a:latin typeface="Calibri"/>
              </a:rPr>
              <a:t>18 AY — aylıq gəlir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2103120"/>
            <a:ext cx="3383280" cy="1417320"/>
          </a:xfrm>
          <a:prstGeom prst="rect">
            <a:avLst/>
          </a:prstGeom>
          <a:solidFill>
            <a:srgbClr val="171A1E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800" b="1" i="0">
                <a:solidFill>
                  <a:srgbClr val="FFB300"/>
                </a:solidFill>
                <a:latin typeface="Calibri"/>
              </a:rPr>
              <a:t>$265K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9EA4"/>
                </a:solidFill>
                <a:latin typeface="Calibri"/>
              </a:rPr>
              <a:t>36 AY — aylıq gəlir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2103120"/>
            <a:ext cx="3291840" cy="1417320"/>
          </a:xfrm>
          <a:prstGeom prst="rect">
            <a:avLst/>
          </a:prstGeom>
          <a:solidFill>
            <a:srgbClr val="171A1E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800" b="1" i="0">
                <a:solidFill>
                  <a:srgbClr val="57C98A"/>
                </a:solidFill>
                <a:latin typeface="Calibri"/>
              </a:rPr>
              <a:t>$932K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9EA4"/>
                </a:solidFill>
                <a:latin typeface="Calibri"/>
              </a:rPr>
              <a:t>48 AY — aylıq gəlir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03320"/>
            <a:ext cx="3383280" cy="1417320"/>
          </a:xfrm>
          <a:prstGeom prst="rect">
            <a:avLst/>
          </a:prstGeom>
          <a:solidFill>
            <a:srgbClr val="171A1E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800" b="1" i="0">
                <a:solidFill>
                  <a:srgbClr val="FFB300"/>
                </a:solidFill>
                <a:latin typeface="Calibri"/>
              </a:rPr>
              <a:t>$463K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9EA4"/>
                </a:solidFill>
                <a:latin typeface="Calibri"/>
              </a:rPr>
              <a:t>18 AY — ARR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3703320"/>
            <a:ext cx="3383280" cy="1417320"/>
          </a:xfrm>
          <a:prstGeom prst="rect">
            <a:avLst/>
          </a:prstGeom>
          <a:solidFill>
            <a:srgbClr val="171A1E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800" b="1" i="0">
                <a:solidFill>
                  <a:srgbClr val="FFB300"/>
                </a:solidFill>
                <a:latin typeface="Calibri"/>
              </a:rPr>
              <a:t>$3.18M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9EA4"/>
                </a:solidFill>
                <a:latin typeface="Calibri"/>
              </a:rPr>
              <a:t>36 AY — ARR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3703320"/>
            <a:ext cx="3291840" cy="1417320"/>
          </a:xfrm>
          <a:prstGeom prst="rect">
            <a:avLst/>
          </a:prstGeom>
          <a:solidFill>
            <a:srgbClr val="171A1E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800" b="1" i="0">
                <a:solidFill>
                  <a:srgbClr val="57C98A"/>
                </a:solidFill>
                <a:latin typeface="Calibri"/>
              </a:rPr>
              <a:t>$11.19M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9EA4"/>
                </a:solidFill>
                <a:latin typeface="Calibri"/>
              </a:rPr>
              <a:t>48 AY — ARR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34924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ECEAE5"/>
                </a:solidFill>
                <a:latin typeface="Calibri"/>
              </a:rPr>
              <a:t>İl 1 $116K · İl 2 $523K · İl 3 $1.90M · İl 4 $6.71M gəlir   |   Breakeven ≈ 28-ci ay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9A9EA4"/>
                </a:solidFill>
                <a:latin typeface="Calibri"/>
              </a:rPr>
              <a:t>48 ayda sifariş 9,717/ay · ödənişli abunəçi 26,200 · komanda 24 nəfər · İl 4 NET $3.42M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B300"/>
                </a:solidFill>
                <a:latin typeface="Calibri"/>
              </a:rPr>
              <a:t>İNVESTİSİYA TƏLƏBİ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Tələb: $1.60M seed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83280" cy="1554480"/>
          </a:xfrm>
          <a:prstGeom prst="rect">
            <a:avLst/>
          </a:prstGeom>
          <a:solidFill>
            <a:srgbClr val="171A1E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800" b="1" i="0">
                <a:solidFill>
                  <a:srgbClr val="FFB300"/>
                </a:solidFill>
                <a:latin typeface="Calibri"/>
              </a:rPr>
              <a:t>$1.60M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9EA4"/>
                </a:solidFill>
                <a:latin typeface="Calibri"/>
              </a:rPr>
              <a:t>Seed investisiya (köklü start)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2103120"/>
            <a:ext cx="3383280" cy="1554480"/>
          </a:xfrm>
          <a:prstGeom prst="rect">
            <a:avLst/>
          </a:prstGeom>
          <a:solidFill>
            <a:srgbClr val="171A1E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800" b="1" i="0">
                <a:solidFill>
                  <a:srgbClr val="FFB300"/>
                </a:solidFill>
                <a:latin typeface="Calibri"/>
              </a:rPr>
              <a:t>~30 ay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9EA4"/>
                </a:solidFill>
                <a:latin typeface="Calibri"/>
              </a:rPr>
              <a:t>Runway (breakeven-ə qədər)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2103120"/>
            <a:ext cx="3291840" cy="1554480"/>
          </a:xfrm>
          <a:prstGeom prst="rect">
            <a:avLst/>
          </a:prstGeom>
          <a:solidFill>
            <a:srgbClr val="171A1E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800" b="1" i="0">
                <a:solidFill>
                  <a:srgbClr val="57C98A"/>
                </a:solidFill>
                <a:latin typeface="Calibri"/>
              </a:rPr>
              <a:t>$11.19M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9EA4"/>
                </a:solidFill>
                <a:latin typeface="Calibri"/>
              </a:rPr>
              <a:t>48 ay ARR hədəfi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3192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ECEAE5"/>
                </a:solidFill>
                <a:latin typeface="Calibri"/>
              </a:rPr>
              <a:t>•  İstifadə: komanda ~60% · məhsul/infra ~12% · marketinq ~20% · əməliyyat/inzibati ~8%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ECEAE5"/>
                </a:solidFill>
                <a:latin typeface="Calibri"/>
              </a:rPr>
              <a:t>•  İşlək MVP ilk aydan gəlir gətirir — komanda paralel tam məhsulu cilalayır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57C98A"/>
                </a:solidFill>
                <a:latin typeface="Calibri"/>
              </a:rPr>
              <a:t>Plan: orta bazarı tut → $11.19M ARR-ə çat → yuxarı bazara genişlən, İl 4 NET $3.42M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Gəlin birlikdə quraq.</a:t>
            </a:r>
          </a:p>
          <a:p>
            <a:pPr algn="l">
              <a:spcAft>
                <a:spcPts val="2400"/>
              </a:spcAft>
            </a:pPr>
            <a:r>
              <a:rPr sz="2200" b="0" i="0">
                <a:solidFill>
                  <a:srgbClr val="FFB300"/>
                </a:solidFill>
                <a:latin typeface="Calibri"/>
              </a:rPr>
              <a:t>FEEDRATE — fayldan hazır hissəyə, anında. Orta bazardan başlayıb yuxarıya.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9A9EA4"/>
                </a:solidFill>
                <a:latin typeface="Calibri"/>
              </a:rPr>
              <a:t>Kayzen  ·  support@kayzen.az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